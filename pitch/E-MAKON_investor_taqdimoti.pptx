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Salomlashish. E-MAKON — bog'dorchilik va landshaft xizmatlarini buyurtma qilish, bajarish va to'lashni bitta platformaga jamlagan loyiha. 10–12 daqiqada muammo, yechim, hozirgi holat va kelajak rejalarini ko'rsatamiz.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Bugun hovli yoki dacha egasi bog'ini parvarish qildirmoqchi bo'lsa, ustani tanishlar orqali qidiradi. Narx, vaqt va sifat bo'yicha hech qanday kafolat yo'q. Firmalar esa buyurtmalarni daftarda yuritadi.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Bozor raqamlarini rasmiy statistika (stat.uz) yoki o'z tadqiqotingiz asosida kiriting. Taxminiy raqam aytmaslik — investorlar manbani so'raydi.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Yechim — uch tomonni (mijoz, firma, platforma) bitta tizimga bog'lash. Telegram bot ilovani o'rnatmagan foydalanuvchilar uchun qo'shimcha kirish kanali.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Mijoz xizmatni tanlaydi, bir nechta firmaning qat'iy narxini solishtiradi, firmaning bo'sh vaqtini ko'radi va buyurtma beradi. Kirish SMS-kod orqali.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Asosiy farq — ishonch. Mijoz puli platformada turadi, ish bajarilib tasdiqlangandan keyingina firmaga o'tadi. Muammo bo'lsa — qaytariladi va firma jarimalanadi.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funksiya usta kechikishi va ikki marta band qilish muammosini hal qiladi. Firma panelida, superadmin panelida va mijoz ilovasida bitta jadval.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Firma uchun bu bepul CRM: buyurtmalar, xodimlar, moliya va hisobotlar bir joyda.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Superadmin barcha firmalar, buyurtmalar va pul oqimini real vaqtda ko'radi.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mexanizmlarning barchasi kodda ishlaydi va avtomatik testlar bilan tekshirilgan.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MUHIM: hozirgi sozlamada komissiya 0.30% (foiz). Agar maqsad 30% bo'lsa — superadmin sozlamasida o'zgartiring va slaydni yangilang. Misol qatorini o'z prognozingiz bilan to'ldiring.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Bepul konsultatsiya va kafolat — mijozni jalb qilish va ishonch uchun.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Arxitektura yangi shahar va xizmat turlarini qo'shishga tayyor; bitta Flutter kodi ikkala mobil platformani qoplaydi — xarajat ikki barobar kam.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Ko'rsatilgan skrinshotlar demo ma'lumotlar bilan olingan (2 firma, test buyurtmalar). Haqiqiy pilot raqamlari bo'lsa — ularni kiriting.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Birinchi bosqich — haqiqiy to'lov va SMS: bular ishga tushirish uchun majburiy. Keyin do'konlarga chiqish va hamkor firmalar sonini oshirish.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Qavs ichidagi barcha joylarni o'zingizning aniq raqamlaringiz bilan to'ldiring. Yakunda: 'Savollaringiz bo'lsa, javob beramiz. Hozir jonli demo ko'rsatishimiz mumkin.'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D110F">
                  <a:alpha val="100000"/>
                </a:srgbClr>
              </a:gs>
              <a:gs pos="38000">
                <a:srgbClr val="0D110F">
                  <a:alpha val="92000"/>
                </a:srgbClr>
              </a:gs>
              <a:gs pos="70000">
                <a:srgbClr val="0D110F">
                  <a:alpha val="10000"/>
                </a:srgbClr>
              </a:gs>
              <a:gs pos="100000">
                <a:srgbClr val="0D110F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0"/>
            <a:ext cx="12191695" cy="1737360"/>
          </a:xfrm>
          <a:prstGeom prst="rect">
            <a:avLst/>
          </a:prstGeom>
          <a:gradFill rotWithShape="1">
            <a:gsLst>
              <a:gs pos="0">
                <a:srgbClr val="0D110F">
                  <a:alpha val="0"/>
                </a:srgbClr>
              </a:gs>
              <a:gs pos="100000">
                <a:srgbClr val="0D110F">
                  <a:alpha val="8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1F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100" b="1">
                <a:solidFill>
                  <a:srgbClr val="8BDA7F"/>
                </a:solidFill>
                <a:latin typeface="Segoe UI Semibold"/>
              </a:rPr>
              <a:t>INVESTORLAR UCHUN TAQDIMOT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5943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200" b="1">
                <a:solidFill>
                  <a:srgbClr val="8BDA7F"/>
                </a:solidFill>
                <a:latin typeface="Segoe UI Semibold"/>
              </a:rPr>
              <a:t>E-MAKON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63240"/>
            <a:ext cx="5669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F2F5F2"/>
                </a:solidFill>
                <a:latin typeface="Segoe UI Semibold"/>
              </a:rPr>
              <a:t>Bog' va landshaft xizmatlari uchun yagona raqamli platforma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343400"/>
            <a:ext cx="5303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A9B5AC"/>
                </a:solidFill>
                <a:latin typeface="Segoe UI"/>
              </a:rPr>
              <a:t>Mijoz · Firma · Platforma — bitta tizimda: qat'iy narx, bo'sh vaqtni ko'rish, xavfsiz to'lov va jonli kuzatuv.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A9B5AC"/>
                </a:solidFill>
                <a:latin typeface="Segoe UI"/>
              </a:rPr>
              <a:t>Toshkent · 2026</a:t>
            </a:r>
            <a:r>
              <a:rPr sz="1200" b="0">
                <a:solidFill>
                  <a:srgbClr val="26352C"/>
                </a:solidFill>
                <a:latin typeface="Segoe UI"/>
              </a:rPr>
              <a:t>   |   </a:t>
            </a:r>
            <a:r>
              <a:rPr sz="1200" b="0">
                <a:solidFill>
                  <a:srgbClr val="A9B5AC"/>
                </a:solidFill>
                <a:latin typeface="Segoe UI"/>
              </a:rPr>
              <a:t>Mobil ilova · Firma paneli · Superadmin · Telegram bot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BDA7F"/>
                </a:solidFill>
                <a:latin typeface="Segoe UI Semibold"/>
              </a:rPr>
              <a:t>E-MAKON</a:t>
            </a:r>
            <a:r>
              <a:rPr sz="1000" b="0">
                <a:solidFill>
                  <a:srgbClr val="A9B5AC"/>
                </a:solidFill>
                <a:latin typeface="Segoe UI"/>
              </a:rPr>
              <a:t>  ·  Investorlar uchun taqdimot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0" y="6446520"/>
            <a:ext cx="9418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A9B5AC"/>
                </a:solidFill>
                <a:latin typeface="Segoe UI"/>
              </a:rPr>
              <a:t>02 / 16</a:t>
            </a:r>
          </a:p>
        </p:txBody>
      </p:sp>
      <p:pic>
        <p:nvPicPr>
          <p:cNvPr id="4" name="Picture 3" descr="problem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D110F">
                  <a:alpha val="0"/>
                </a:srgbClr>
              </a:gs>
              <a:gs pos="35000">
                <a:srgbClr val="0D110F">
                  <a:alpha val="30000"/>
                </a:srgbClr>
              </a:gs>
              <a:gs pos="55000">
                <a:srgbClr val="0D110F">
                  <a:alpha val="92000"/>
                </a:srgbClr>
              </a:gs>
              <a:gs pos="100000">
                <a:srgbClr val="0D110F">
                  <a:alpha val="10000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9360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E55B5B"/>
                </a:solidFill>
                <a:latin typeface="Segoe UI Semibold"/>
              </a:rPr>
              <a:t>MUAMMO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77724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F2F5F2"/>
                </a:solidFill>
                <a:latin typeface="Segoe UI Semibold"/>
              </a:rPr>
              <a:t>Bog' xizmatini buyurtma qilish — bugun hamon tavakkal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874519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>
                <a:solidFill>
                  <a:srgbClr val="E55B5B"/>
                </a:solidFill>
                <a:latin typeface="Segoe UI Emoji"/>
              </a:rPr>
              <a:t>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1856231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2F5F2"/>
                </a:solidFill>
                <a:latin typeface="Segoe UI Semibold"/>
              </a:rPr>
              <a:t>Ishonchli usta topish qiyin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2148839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A9B5AC"/>
                </a:solidFill>
                <a:latin typeface="Segoe UI"/>
              </a:rPr>
              <a:t>Tanish-bilish, Telegram guruhlar va e'lonlar orqali — reyting va kafolat yo'q.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743199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>
                <a:solidFill>
                  <a:srgbClr val="E55B5B"/>
                </a:solidFill>
                <a:latin typeface="Segoe UI Emoji"/>
              </a:rPr>
              <a:t>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60" y="2724911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2F5F2"/>
                </a:solidFill>
                <a:latin typeface="Segoe UI Semibold"/>
              </a:rPr>
              <a:t>Narx noaniq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3017519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A9B5AC"/>
                </a:solidFill>
                <a:latin typeface="Segoe UI"/>
              </a:rPr>
              <a:t>Narx oldindan aytilmaydi, ish oxirida oshib ketadi; solishtirish imkoni yo'q.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3611879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>
                <a:solidFill>
                  <a:srgbClr val="E55B5B"/>
                </a:solidFill>
                <a:latin typeface="Segoe UI Emoji"/>
              </a:rPr>
              <a:t>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3593591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2F5F2"/>
                </a:solidFill>
                <a:latin typeface="Segoe UI Semibold"/>
              </a:rPr>
              <a:t>Vaqt kelishilmaydi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95160" y="3886199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A9B5AC"/>
                </a:solidFill>
                <a:latin typeface="Segoe UI"/>
              </a:rPr>
              <a:t>Usta kechikadi yoki kelmaydi; firmaning bandligi mijozga ko'rinmaydi.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4480559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>
                <a:solidFill>
                  <a:srgbClr val="E55B5B"/>
                </a:solidFill>
                <a:latin typeface="Segoe UI Emoji"/>
              </a:rPr>
              <a:t>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4462271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2F5F2"/>
                </a:solidFill>
                <a:latin typeface="Segoe UI Semibold"/>
              </a:rPr>
              <a:t>To'lov himoyalanmagan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60" y="4754879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A9B5AC"/>
                </a:solidFill>
                <a:latin typeface="Segoe UI"/>
              </a:rPr>
              <a:t>Oldindan pul beriladi — ish sifatsiz bo'lsa, qaytarib olish deyarli imkonsiz.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5349239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>
                <a:solidFill>
                  <a:srgbClr val="E55B5B"/>
                </a:solidFill>
                <a:latin typeface="Segoe UI Emoji"/>
              </a:rPr>
              <a:t>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5330951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2F5F2"/>
                </a:solidFill>
                <a:latin typeface="Segoe UI Semibold"/>
              </a:rPr>
              <a:t>Firmalar ham qiynaladi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5623559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A9B5AC"/>
                </a:solidFill>
                <a:latin typeface="Segoe UI"/>
              </a:rPr>
              <a:t>Buyurtmalar daftar va telefonda; xodimlar bandligi, daromad hisobi yo'q.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BDA7F"/>
                </a:solidFill>
                <a:latin typeface="Segoe UI Semibold"/>
              </a:rPr>
              <a:t>E-MAKON</a:t>
            </a:r>
            <a:r>
              <a:rPr sz="1000" b="0">
                <a:solidFill>
                  <a:srgbClr val="A9B5AC"/>
                </a:solidFill>
                <a:latin typeface="Segoe UI"/>
              </a:rPr>
              <a:t>  ·  Investorlar uchun taqdimot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46520"/>
            <a:ext cx="9418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A9B5AC"/>
                </a:solidFill>
                <a:latin typeface="Segoe UI"/>
              </a:rP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8BDA7F"/>
                </a:solidFill>
                <a:latin typeface="Segoe UI Semibold"/>
              </a:rPr>
              <a:t>BOZOR IMKONIYATI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F2F5F2"/>
                </a:solidFill>
                <a:latin typeface="Segoe UI Semibold"/>
              </a:rPr>
              <a:t>Kimlar uchun?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A9B5AC"/>
                </a:solidFill>
                <a:latin typeface="Segoe UI"/>
              </a:rPr>
              <a:t>Talab doimiy va mavsumiy: bahor–kuz davrida har hafta, qishda daraxt kesish va rejalashtirish.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BDA7F"/>
                </a:solidFill>
                <a:latin typeface="Segoe UI Semibold"/>
              </a:rPr>
              <a:t>E-MAKON</a:t>
            </a:r>
            <a:r>
              <a:rPr sz="1000" b="0">
                <a:solidFill>
                  <a:srgbClr val="A9B5AC"/>
                </a:solidFill>
                <a:latin typeface="Segoe UI"/>
              </a:rPr>
              <a:t>  ·  Investorlar uchun taqdimot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46520"/>
            <a:ext cx="9418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A9B5AC"/>
                </a:solidFill>
                <a:latin typeface="Segoe UI"/>
              </a:rPr>
              <a:t>03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57400"/>
            <a:ext cx="2606040" cy="2423160"/>
          </a:xfrm>
          <a:prstGeom prst="roundRect">
            <a:avLst>
              <a:gd name="adj" fmla="val 6000"/>
            </a:avLst>
          </a:prstGeom>
          <a:solidFill>
            <a:srgbClr val="151C17"/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914400" y="228600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1F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>
                <a:solidFill>
                  <a:srgbClr val="8BDA7F"/>
                </a:solidFill>
                <a:latin typeface="Segoe UI Emoji"/>
              </a:rPr>
              <a:t>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2F5F2"/>
                </a:solidFill>
                <a:latin typeface="Segoe UI Semibold"/>
              </a:rPr>
              <a:t>Xususiy uy va hovlilar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2148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A9B5AC"/>
                </a:solidFill>
                <a:latin typeface="Segoe UI"/>
              </a:rPr>
              <a:t>Gazon, daraxt parvarishi, dorilash, o'g'itlash — muntazam xizmat.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2057400"/>
            <a:ext cx="2606040" cy="2423160"/>
          </a:xfrm>
          <a:prstGeom prst="roundRect">
            <a:avLst>
              <a:gd name="adj" fmla="val 6000"/>
            </a:avLst>
          </a:prstGeom>
          <a:solidFill>
            <a:srgbClr val="151C17"/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703320" y="228600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1F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>
                <a:solidFill>
                  <a:srgbClr val="8BDA7F"/>
                </a:solidFill>
                <a:latin typeface="Segoe UI Emoji"/>
              </a:rPr>
              <a:t>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297180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2F5F2"/>
                </a:solidFill>
                <a:latin typeface="Segoe UI Semibold"/>
              </a:rPr>
              <a:t>Dacha va kottej shaharchalari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3703320"/>
            <a:ext cx="2148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A9B5AC"/>
                </a:solidFill>
                <a:latin typeface="Segoe UI"/>
              </a:rPr>
              <a:t>Mavsumiy katta buyurtmalar, landshaft dizayn, sug'orish tizimi.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057400"/>
            <a:ext cx="2606040" cy="2423160"/>
          </a:xfrm>
          <a:prstGeom prst="roundRect">
            <a:avLst>
              <a:gd name="adj" fmla="val 6000"/>
            </a:avLst>
          </a:prstGeom>
          <a:solidFill>
            <a:srgbClr val="151C17"/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6492240" y="228600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1F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>
                <a:solidFill>
                  <a:srgbClr val="8BDA7F"/>
                </a:solidFill>
                <a:latin typeface="Segoe UI Emoji"/>
              </a:rPr>
              <a:t>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97180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2F5F2"/>
                </a:solidFill>
                <a:latin typeface="Segoe UI Semibold"/>
              </a:rPr>
              <a:t>Korxona va ofis hududlari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03320"/>
            <a:ext cx="2148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A9B5AC"/>
                </a:solidFill>
                <a:latin typeface="Segoe UI"/>
              </a:rPr>
              <a:t>Yillik parvarish shartnomalari — barqaror, takroriy daromad.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2057400"/>
            <a:ext cx="2606040" cy="2423160"/>
          </a:xfrm>
          <a:prstGeom prst="roundRect">
            <a:avLst>
              <a:gd name="adj" fmla="val 6000"/>
            </a:avLst>
          </a:prstGeom>
          <a:solidFill>
            <a:srgbClr val="151C17"/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9281160" y="228600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1F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>
                <a:solidFill>
                  <a:srgbClr val="8BDA7F"/>
                </a:solidFill>
                <a:latin typeface="Segoe UI Emoji"/>
              </a:rPr>
              <a:t>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1160" y="297180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2F5F2"/>
                </a:solidFill>
                <a:latin typeface="Segoe UI Semibold"/>
              </a:rPr>
              <a:t>Mahalla, maktab, bog'chalar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81160" y="3703320"/>
            <a:ext cx="2148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A9B5AC"/>
                </a:solidFill>
                <a:latin typeface="Segoe UI"/>
              </a:rPr>
              <a:t>Obodonlashtirish va ko'kalamzorlashtirish loyihalari.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663440"/>
            <a:ext cx="10927080" cy="1463040"/>
          </a:xfrm>
          <a:prstGeom prst="roundRect">
            <a:avLst>
              <a:gd name="adj" fmla="val 6000"/>
            </a:avLst>
          </a:prstGeom>
          <a:solidFill>
            <a:srgbClr val="121A14"/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14400" y="4846320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8BDA7F"/>
                </a:solidFill>
                <a:latin typeface="Segoe UI Semibold"/>
              </a:rPr>
              <a:t>Bozor hajmi (manba bilan to'ldiring)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21208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F2F5F2"/>
                </a:solidFill>
                <a:latin typeface="Segoe UI Semibold"/>
              </a:rPr>
              <a:t>[ ___ ] ming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6692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A9B5AC"/>
                </a:solidFill>
                <a:latin typeface="Segoe UI"/>
              </a:rPr>
              <a:t>hovlili uy-joy (Toshkent)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521208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F2F5F2"/>
                </a:solidFill>
                <a:latin typeface="Segoe UI Semibold"/>
              </a:rPr>
              <a:t>[ ___ ] mlrd so'm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56692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A9B5AC"/>
                </a:solidFill>
                <a:latin typeface="Segoe UI"/>
              </a:rPr>
              <a:t>yillik bog' xizmatlari bozori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0" y="521208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F2F5F2"/>
                </a:solidFill>
                <a:latin typeface="Segoe UI Semibold"/>
              </a:rPr>
              <a:t>[ ___ ] 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0" y="56692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A9B5AC"/>
                </a:solidFill>
                <a:latin typeface="Segoe UI"/>
              </a:rPr>
              <a:t>faol bog'dorchilik firmalari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8BDA7F"/>
                </a:solidFill>
                <a:latin typeface="Segoe UI Semibold"/>
              </a:rPr>
              <a:t>YECHIM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F2F5F2"/>
                </a:solidFill>
                <a:latin typeface="Segoe UI Semibold"/>
              </a:rPr>
              <a:t>E-MAKON — buyurtmadan to'lovgacha bitta platforma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A9B5AC"/>
                </a:solidFill>
                <a:latin typeface="Segoe UI"/>
              </a:rPr>
              <a:t>To'rt qism bitta backend va bitta ma'lumotlar bazasida ishlaydi — hamma bir xil holatni ko'radi.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BDA7F"/>
                </a:solidFill>
                <a:latin typeface="Segoe UI Semibold"/>
              </a:rPr>
              <a:t>E-MAKON</a:t>
            </a:r>
            <a:r>
              <a:rPr sz="1000" b="0">
                <a:solidFill>
                  <a:srgbClr val="A9B5AC"/>
                </a:solidFill>
                <a:latin typeface="Segoe UI"/>
              </a:rPr>
              <a:t>  ·  Investorlar uchun taqdimot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46520"/>
            <a:ext cx="9418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A9B5AC"/>
                </a:solidFill>
                <a:latin typeface="Segoe UI"/>
              </a:rPr>
              <a:t>04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2606040" cy="4023360"/>
          </a:xfrm>
          <a:prstGeom prst="roundRect">
            <a:avLst>
              <a:gd name="adj" fmla="val 6000"/>
            </a:avLst>
          </a:prstGeom>
          <a:solidFill>
            <a:srgbClr val="151C17"/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914400" y="237744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1F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>
                <a:solidFill>
                  <a:srgbClr val="8BDA7F"/>
                </a:solidFill>
                <a:latin typeface="Segoe UI Emoji"/>
              </a:rPr>
              <a:t>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89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F2F5F2"/>
                </a:solidFill>
                <a:latin typeface="Segoe UI Semibold"/>
              </a:rPr>
              <a:t>Mobil ilova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49300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8BDA7F"/>
                </a:solidFill>
                <a:latin typeface="Segoe UI"/>
              </a:rPr>
              <a:t>Mijoz uchun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2240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8BDA7F"/>
                </a:solidFill>
                <a:latin typeface="Segoe UI Semibold"/>
              </a:rPr>
              <a:t>✓  </a:t>
            </a:r>
            <a:r>
              <a:rPr sz="1200" b="0">
                <a:solidFill>
                  <a:srgbClr val="F2F5F2"/>
                </a:solidFill>
                <a:latin typeface="Segoe UI"/>
              </a:rPr>
              <a:t>Xizmat va firma tanlash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462272"/>
            <a:ext cx="2240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8BDA7F"/>
                </a:solidFill>
                <a:latin typeface="Segoe UI Semibold"/>
              </a:rPr>
              <a:t>✓  </a:t>
            </a:r>
            <a:r>
              <a:rPr sz="1200" b="0">
                <a:solidFill>
                  <a:srgbClr val="F2F5F2"/>
                </a:solidFill>
                <a:latin typeface="Segoe UI"/>
              </a:rPr>
              <a:t>Qat'iy narx, bo'sh vaqt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992624"/>
            <a:ext cx="2240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8BDA7F"/>
                </a:solidFill>
                <a:latin typeface="Segoe UI Semibold"/>
              </a:rPr>
              <a:t>✓  </a:t>
            </a:r>
            <a:r>
              <a:rPr sz="1200" b="0">
                <a:solidFill>
                  <a:srgbClr val="F2F5F2"/>
                </a:solidFill>
                <a:latin typeface="Segoe UI"/>
              </a:rPr>
              <a:t>Rasm, to'lov, jonli holat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522976"/>
            <a:ext cx="2240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8BDA7F"/>
                </a:solidFill>
                <a:latin typeface="Segoe UI Semibold"/>
              </a:rPr>
              <a:t>✓  </a:t>
            </a:r>
            <a:r>
              <a:rPr sz="1200" b="0">
                <a:solidFill>
                  <a:srgbClr val="F2F5F2"/>
                </a:solidFill>
                <a:latin typeface="Segoe UI"/>
              </a:rPr>
              <a:t>Sharh va bonus ballar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9000" y="2103120"/>
            <a:ext cx="2606040" cy="4023360"/>
          </a:xfrm>
          <a:prstGeom prst="roundRect">
            <a:avLst>
              <a:gd name="adj" fmla="val 6000"/>
            </a:avLst>
          </a:prstGeom>
          <a:solidFill>
            <a:srgbClr val="151C17"/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703320" y="237744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1F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>
                <a:solidFill>
                  <a:srgbClr val="8BDA7F"/>
                </a:solidFill>
                <a:latin typeface="Segoe UI Emoji"/>
              </a:rPr>
              <a:t>🧑‍🌾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31089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F2F5F2"/>
                </a:solidFill>
                <a:latin typeface="Segoe UI Semibold"/>
              </a:rPr>
              <a:t>Firma paneli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349300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8BDA7F"/>
                </a:solidFill>
                <a:latin typeface="Segoe UI"/>
              </a:rPr>
              <a:t>Hamkor firma uchun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03320" y="3931920"/>
            <a:ext cx="2240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8BDA7F"/>
                </a:solidFill>
                <a:latin typeface="Segoe UI Semibold"/>
              </a:rPr>
              <a:t>✓  </a:t>
            </a:r>
            <a:r>
              <a:rPr sz="1200" b="0">
                <a:solidFill>
                  <a:srgbClr val="F2F5F2"/>
                </a:solidFill>
                <a:latin typeface="Segoe UI"/>
              </a:rPr>
              <a:t>Buyurtmalarni qabul qilish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4462272"/>
            <a:ext cx="2240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8BDA7F"/>
                </a:solidFill>
                <a:latin typeface="Segoe UI Semibold"/>
              </a:rPr>
              <a:t>✓  </a:t>
            </a:r>
            <a:r>
              <a:rPr sz="1200" b="0">
                <a:solidFill>
                  <a:srgbClr val="F2F5F2"/>
                </a:solidFill>
                <a:latin typeface="Segoe UI"/>
              </a:rPr>
              <a:t>Bandlik jadvali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3320" y="4992624"/>
            <a:ext cx="2240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8BDA7F"/>
                </a:solidFill>
                <a:latin typeface="Segoe UI Semibold"/>
              </a:rPr>
              <a:t>✓  </a:t>
            </a:r>
            <a:r>
              <a:rPr sz="1200" b="0">
                <a:solidFill>
                  <a:srgbClr val="F2F5F2"/>
                </a:solidFill>
                <a:latin typeface="Segoe UI"/>
              </a:rPr>
              <a:t>Xodimlar va ish bosqichlari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3320" y="5522976"/>
            <a:ext cx="2240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8BDA7F"/>
                </a:solidFill>
                <a:latin typeface="Segoe UI Semibold"/>
              </a:rPr>
              <a:t>✓  </a:t>
            </a:r>
            <a:r>
              <a:rPr sz="1200" b="0">
                <a:solidFill>
                  <a:srgbClr val="F2F5F2"/>
                </a:solidFill>
                <a:latin typeface="Segoe UI"/>
              </a:rPr>
              <a:t>Moliya va PDF hisobotlar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2103120"/>
            <a:ext cx="2606040" cy="4023360"/>
          </a:xfrm>
          <a:prstGeom prst="roundRect">
            <a:avLst>
              <a:gd name="adj" fmla="val 6000"/>
            </a:avLst>
          </a:prstGeom>
          <a:solidFill>
            <a:srgbClr val="151C17"/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6492240" y="237744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1F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>
                <a:solidFill>
                  <a:srgbClr val="8BDA7F"/>
                </a:solidFill>
                <a:latin typeface="Segoe UI Emoji"/>
              </a:rPr>
              <a:t>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1089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F2F5F2"/>
                </a:solidFill>
                <a:latin typeface="Segoe UI Semibold"/>
              </a:rPr>
              <a:t>Superadmin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349300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8BDA7F"/>
                </a:solidFill>
                <a:latin typeface="Segoe UI"/>
              </a:rPr>
              <a:t>Platforma uchun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931920"/>
            <a:ext cx="2240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8BDA7F"/>
                </a:solidFill>
                <a:latin typeface="Segoe UI Semibold"/>
              </a:rPr>
              <a:t>✓  </a:t>
            </a:r>
            <a:r>
              <a:rPr sz="1200" b="0">
                <a:solidFill>
                  <a:srgbClr val="F2F5F2"/>
                </a:solidFill>
                <a:latin typeface="Segoe UI"/>
              </a:rPr>
              <a:t>Firma moderatsiyasi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462272"/>
            <a:ext cx="2240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8BDA7F"/>
                </a:solidFill>
                <a:latin typeface="Segoe UI Semibold"/>
              </a:rPr>
              <a:t>✓  </a:t>
            </a:r>
            <a:r>
              <a:rPr sz="1200" b="0">
                <a:solidFill>
                  <a:srgbClr val="F2F5F2"/>
                </a:solidFill>
                <a:latin typeface="Segoe UI"/>
              </a:rPr>
              <a:t>To'lovlar nazorati (escrow)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992624"/>
            <a:ext cx="2240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8BDA7F"/>
                </a:solidFill>
                <a:latin typeface="Segoe UI Semibold"/>
              </a:rPr>
              <a:t>✓  </a:t>
            </a:r>
            <a:r>
              <a:rPr sz="1200" b="0">
                <a:solidFill>
                  <a:srgbClr val="F2F5F2"/>
                </a:solidFill>
                <a:latin typeface="Segoe UI"/>
              </a:rPr>
              <a:t>Komissiya, obuna, jarima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522976"/>
            <a:ext cx="2240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8BDA7F"/>
                </a:solidFill>
                <a:latin typeface="Segoe UI Semibold"/>
              </a:rPr>
              <a:t>✓  </a:t>
            </a:r>
            <a:r>
              <a:rPr sz="1200" b="0">
                <a:solidFill>
                  <a:srgbClr val="F2F5F2"/>
                </a:solidFill>
                <a:latin typeface="Segoe UI"/>
              </a:rPr>
              <a:t>Xarita, bannerlar, ball tizimi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06840" y="2103120"/>
            <a:ext cx="2606040" cy="4023360"/>
          </a:xfrm>
          <a:prstGeom prst="roundRect">
            <a:avLst>
              <a:gd name="adj" fmla="val 6000"/>
            </a:avLst>
          </a:prstGeom>
          <a:solidFill>
            <a:srgbClr val="151C17"/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9281160" y="237744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1F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>
                <a:solidFill>
                  <a:srgbClr val="8BDA7F"/>
                </a:solidFill>
                <a:latin typeface="Segoe UI Emoji"/>
              </a:rPr>
              <a:t>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81160" y="31089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F2F5F2"/>
                </a:solidFill>
                <a:latin typeface="Segoe UI Semibold"/>
              </a:rPr>
              <a:t>Telegram bot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81160" y="349300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8BDA7F"/>
                </a:solidFill>
                <a:latin typeface="Segoe UI"/>
              </a:rPr>
              <a:t>Qo'shimcha kanal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81160" y="3931920"/>
            <a:ext cx="2240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8BDA7F"/>
                </a:solidFill>
                <a:latin typeface="Segoe UI Semibold"/>
              </a:rPr>
              <a:t>✓  </a:t>
            </a:r>
            <a:r>
              <a:rPr sz="1200" b="0">
                <a:solidFill>
                  <a:srgbClr val="F2F5F2"/>
                </a:solidFill>
                <a:latin typeface="Segoe UI"/>
              </a:rPr>
              <a:t>Telegram orqali kirish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81160" y="4462272"/>
            <a:ext cx="2240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8BDA7F"/>
                </a:solidFill>
                <a:latin typeface="Segoe UI Semibold"/>
              </a:rPr>
              <a:t>✓  </a:t>
            </a:r>
            <a:r>
              <a:rPr sz="1200" b="0">
                <a:solidFill>
                  <a:srgbClr val="F2F5F2"/>
                </a:solidFill>
                <a:latin typeface="Segoe UI"/>
              </a:rPr>
              <a:t>Buyurtma berish va kuzatish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81160" y="4992624"/>
            <a:ext cx="2240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8BDA7F"/>
                </a:solidFill>
                <a:latin typeface="Segoe UI Semibold"/>
              </a:rPr>
              <a:t>✓  </a:t>
            </a:r>
            <a:r>
              <a:rPr sz="1200" b="0">
                <a:solidFill>
                  <a:srgbClr val="F2F5F2"/>
                </a:solidFill>
                <a:latin typeface="Segoe UI"/>
              </a:rPr>
              <a:t>Murojaat (support) tizimi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81160" y="5522976"/>
            <a:ext cx="2240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8BDA7F"/>
                </a:solidFill>
                <a:latin typeface="Segoe UI Semibold"/>
              </a:rPr>
              <a:t>✓  </a:t>
            </a:r>
            <a:r>
              <a:rPr sz="1200" b="0">
                <a:solidFill>
                  <a:srgbClr val="F2F5F2"/>
                </a:solidFill>
                <a:latin typeface="Segoe UI"/>
              </a:rPr>
              <a:t>Bildirishnomalar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8BDA7F"/>
                </a:solidFill>
                <a:latin typeface="Segoe UI Semibold"/>
              </a:rPr>
              <a:t>MOBIL ILOVA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F2F5F2"/>
                </a:solidFill>
                <a:latin typeface="Segoe UI Semibold"/>
              </a:rPr>
              <a:t>Mijoz 1 daqiqada buyurtma beradi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BDA7F"/>
                </a:solidFill>
                <a:latin typeface="Segoe UI Semibold"/>
              </a:rPr>
              <a:t>E-MAKON</a:t>
            </a:r>
            <a:r>
              <a:rPr sz="1000" b="0">
                <a:solidFill>
                  <a:srgbClr val="A9B5AC"/>
                </a:solidFill>
                <a:latin typeface="Segoe UI"/>
              </a:rPr>
              <a:t>  ·  Investorlar uchun taqdimot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46520"/>
            <a:ext cx="9418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A9B5AC"/>
                </a:solidFill>
                <a:latin typeface="Segoe UI"/>
              </a:rPr>
              <a:t>05 / 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" y="1517904"/>
            <a:ext cx="2099717" cy="4325112"/>
          </a:xfrm>
          <a:prstGeom prst="roundRect">
            <a:avLst>
              <a:gd name="adj" fmla="val 9000"/>
            </a:avLst>
          </a:prstGeom>
          <a:solidFill>
            <a:srgbClr val="050706"/>
          </a:solidFill>
          <a:ln w="12700">
            <a:solidFill>
              <a:srgbClr val="3A47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m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00200"/>
            <a:ext cx="1935125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5943600"/>
            <a:ext cx="248376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A9B5AC"/>
                </a:solidFill>
                <a:latin typeface="Segoe UI"/>
              </a:rPr>
              <a:t>Bosh sahifa: xizmatlar va hamkorlar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81629" y="1517904"/>
            <a:ext cx="2099717" cy="4325112"/>
          </a:xfrm>
          <a:prstGeom prst="roundRect">
            <a:avLst>
              <a:gd name="adj" fmla="val 9000"/>
            </a:avLst>
          </a:prstGeom>
          <a:solidFill>
            <a:srgbClr val="050706"/>
          </a:solidFill>
          <a:ln w="12700">
            <a:solidFill>
              <a:srgbClr val="3A47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m_serv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3925" y="1600200"/>
            <a:ext cx="1935125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489605" y="5943600"/>
            <a:ext cx="248376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A9B5AC"/>
                </a:solidFill>
                <a:latin typeface="Segoe UI"/>
              </a:rPr>
              <a:t>Firmalar narxlari — qat'iy, solishtiriladi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76874" y="1517904"/>
            <a:ext cx="2099717" cy="4325112"/>
          </a:xfrm>
          <a:prstGeom prst="roundRect">
            <a:avLst>
              <a:gd name="adj" fmla="val 9000"/>
            </a:avLst>
          </a:prstGeom>
          <a:solidFill>
            <a:srgbClr val="050706"/>
          </a:solidFill>
          <a:ln w="12700">
            <a:solidFill>
              <a:srgbClr val="3A47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m_slo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9170" y="1600200"/>
            <a:ext cx="1935125" cy="416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84850" y="5943600"/>
            <a:ext cx="248376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A9B5AC"/>
                </a:solidFill>
                <a:latin typeface="Segoe UI"/>
              </a:rPr>
              <a:t>Bo'sh vaqt yashil, band vaqt qizil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72119" y="1517904"/>
            <a:ext cx="2099717" cy="4325112"/>
          </a:xfrm>
          <a:prstGeom prst="roundRect">
            <a:avLst>
              <a:gd name="adj" fmla="val 9000"/>
            </a:avLst>
          </a:prstGeom>
          <a:solidFill>
            <a:srgbClr val="050706"/>
          </a:solidFill>
          <a:ln w="12700">
            <a:solidFill>
              <a:srgbClr val="3A47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m_ord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4415" y="1600200"/>
            <a:ext cx="1935125" cy="41605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280095" y="5943600"/>
            <a:ext cx="248376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A9B5AC"/>
                </a:solidFill>
                <a:latin typeface="Segoe UI"/>
              </a:rPr>
              <a:t>Buyurtma holati jonli kuzatiladi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8BDA7F"/>
                </a:solidFill>
                <a:latin typeface="Segoe UI Semibold"/>
              </a:rPr>
              <a:t>JARAYON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F2F5F2"/>
                </a:solidFill>
                <a:latin typeface="Segoe UI Semibold"/>
              </a:rPr>
              <a:t>Buyurtma qanday ishlaydi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A9B5AC"/>
                </a:solidFill>
                <a:latin typeface="Segoe UI"/>
              </a:rPr>
              <a:t>Pul mijozdan to'g'ridan-to'g'ri firmaga emas — avval E-MAKON hisobida ushlanadi (escrow).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BDA7F"/>
                </a:solidFill>
                <a:latin typeface="Segoe UI Semibold"/>
              </a:rPr>
              <a:t>E-MAKON</a:t>
            </a:r>
            <a:r>
              <a:rPr sz="1000" b="0">
                <a:solidFill>
                  <a:srgbClr val="A9B5AC"/>
                </a:solidFill>
                <a:latin typeface="Segoe UI"/>
              </a:rPr>
              <a:t>  ·  Investorlar uchun taqdimot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46520"/>
            <a:ext cx="9418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A9B5AC"/>
                </a:solidFill>
                <a:latin typeface="Segoe UI"/>
              </a:rPr>
              <a:t>06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1673352" cy="2514600"/>
          </a:xfrm>
          <a:prstGeom prst="roundRect">
            <a:avLst>
              <a:gd name="adj" fmla="val 6000"/>
            </a:avLst>
          </a:prstGeom>
          <a:solidFill>
            <a:srgbClr val="151C17"/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68680" y="2514600"/>
            <a:ext cx="502920" cy="502920"/>
          </a:xfrm>
          <a:prstGeom prst="ellipse">
            <a:avLst/>
          </a:prstGeom>
          <a:solidFill>
            <a:srgbClr val="8BD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D110F"/>
                </a:solidFill>
                <a:latin typeface="Segoe UI S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108960"/>
            <a:ext cx="1307592" cy="5486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2F5F2"/>
                </a:solidFill>
                <a:latin typeface="Segoe UI Semibold"/>
              </a:rPr>
              <a:t>Xizmat tanlash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767328"/>
            <a:ext cx="130759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A9B5AC"/>
                </a:solidFill>
                <a:latin typeface="Segoe UI"/>
              </a:rPr>
              <a:t>Katalogdan xizmat, rasm va maydon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95144" y="3246120"/>
            <a:ext cx="2194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600" b="1">
                <a:solidFill>
                  <a:srgbClr val="8BDA7F"/>
                </a:solidFill>
                <a:latin typeface="Segoe UI Semibold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87168" y="2194560"/>
            <a:ext cx="1673352" cy="2514600"/>
          </a:xfrm>
          <a:prstGeom prst="roundRect">
            <a:avLst>
              <a:gd name="adj" fmla="val 6000"/>
            </a:avLst>
          </a:prstGeom>
          <a:solidFill>
            <a:srgbClr val="151C17"/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2715768" y="2514600"/>
            <a:ext cx="502920" cy="502920"/>
          </a:xfrm>
          <a:prstGeom prst="ellipse">
            <a:avLst/>
          </a:prstGeom>
          <a:solidFill>
            <a:srgbClr val="8BD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D110F"/>
                </a:solidFill>
                <a:latin typeface="Segoe UI Semibol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15768" y="3108960"/>
            <a:ext cx="1307592" cy="5486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2F5F2"/>
                </a:solidFill>
                <a:latin typeface="Segoe UI Semibold"/>
              </a:rPr>
              <a:t>Firma va narx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5768" y="3767328"/>
            <a:ext cx="130759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A9B5AC"/>
                </a:solidFill>
                <a:latin typeface="Segoe UI"/>
              </a:rPr>
              <a:t>Bir nechta firmaning qat'iy narxi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42232" y="3246120"/>
            <a:ext cx="2194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600" b="1">
                <a:solidFill>
                  <a:srgbClr val="8BDA7F"/>
                </a:solidFill>
                <a:latin typeface="Segoe UI Semibold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34256" y="2194560"/>
            <a:ext cx="1673352" cy="2514600"/>
          </a:xfrm>
          <a:prstGeom prst="roundRect">
            <a:avLst>
              <a:gd name="adj" fmla="val 6000"/>
            </a:avLst>
          </a:prstGeom>
          <a:solidFill>
            <a:srgbClr val="151C17"/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4562856" y="2514600"/>
            <a:ext cx="502920" cy="502920"/>
          </a:xfrm>
          <a:prstGeom prst="ellipse">
            <a:avLst/>
          </a:prstGeom>
          <a:solidFill>
            <a:srgbClr val="8BD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D110F"/>
                </a:solidFill>
                <a:latin typeface="Segoe UI Semibol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2856" y="3108960"/>
            <a:ext cx="1307592" cy="5486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2F5F2"/>
                </a:solidFill>
                <a:latin typeface="Segoe UI Semibold"/>
              </a:rPr>
              <a:t>Bo'sh vaqt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2856" y="3767328"/>
            <a:ext cx="130759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A9B5AC"/>
                </a:solidFill>
                <a:latin typeface="Segoe UI"/>
              </a:rPr>
              <a:t>Yashil soatni tanlaydi (1 soatdan)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3246120"/>
            <a:ext cx="2194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600" b="1">
                <a:solidFill>
                  <a:srgbClr val="8BDA7F"/>
                </a:solidFill>
                <a:latin typeface="Segoe UI Semibold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1344" y="2194560"/>
            <a:ext cx="1673352" cy="2514600"/>
          </a:xfrm>
          <a:prstGeom prst="roundRect">
            <a:avLst>
              <a:gd name="adj" fmla="val 6000"/>
            </a:avLst>
          </a:prstGeom>
          <a:solidFill>
            <a:srgbClr val="1F3A22"/>
          </a:solidFill>
          <a:ln w="12700">
            <a:solidFill>
              <a:srgbClr val="8BDA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6409944" y="2514600"/>
            <a:ext cx="502920" cy="502920"/>
          </a:xfrm>
          <a:prstGeom prst="ellipse">
            <a:avLst/>
          </a:prstGeom>
          <a:solidFill>
            <a:srgbClr val="8BD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D110F"/>
                </a:solidFill>
                <a:latin typeface="Segoe UI Semibold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9944" y="3108960"/>
            <a:ext cx="1307592" cy="5486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2F5F2"/>
                </a:solidFill>
                <a:latin typeface="Segoe UI Semibold"/>
              </a:rPr>
              <a:t>Xavfsiz to'lov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3767328"/>
            <a:ext cx="130759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A9B5AC"/>
                </a:solidFill>
                <a:latin typeface="Segoe UI"/>
              </a:rPr>
              <a:t>Pul E-MAKON hisobida ushlanadi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3246120"/>
            <a:ext cx="2194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600" b="1">
                <a:solidFill>
                  <a:srgbClr val="8BDA7F"/>
                </a:solidFill>
                <a:latin typeface="Segoe UI Semibold"/>
              </a:rPr>
              <a:t>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28432" y="2194560"/>
            <a:ext cx="1673352" cy="2514600"/>
          </a:xfrm>
          <a:prstGeom prst="roundRect">
            <a:avLst>
              <a:gd name="adj" fmla="val 6000"/>
            </a:avLst>
          </a:prstGeom>
          <a:solidFill>
            <a:srgbClr val="151C17"/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8257032" y="2514600"/>
            <a:ext cx="502920" cy="502920"/>
          </a:xfrm>
          <a:prstGeom prst="ellipse">
            <a:avLst/>
          </a:prstGeom>
          <a:solidFill>
            <a:srgbClr val="8BD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D110F"/>
                </a:solidFill>
                <a:latin typeface="Segoe UI Semibold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7032" y="3108960"/>
            <a:ext cx="1307592" cy="5486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2F5F2"/>
                </a:solidFill>
                <a:latin typeface="Segoe UI Semibold"/>
              </a:rPr>
              <a:t>Ish bajariladi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7032" y="3767328"/>
            <a:ext cx="130759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A9B5AC"/>
                </a:solidFill>
                <a:latin typeface="Segoe UI"/>
              </a:rPr>
              <a:t>Qabul qildi → yo'lda → ishlayapti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83496" y="3246120"/>
            <a:ext cx="2194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600" b="1">
                <a:solidFill>
                  <a:srgbClr val="8BDA7F"/>
                </a:solidFill>
                <a:latin typeface="Segoe UI Semibold"/>
              </a:rPr>
              <a:t>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875520" y="2194560"/>
            <a:ext cx="1673352" cy="2514600"/>
          </a:xfrm>
          <a:prstGeom prst="roundRect">
            <a:avLst>
              <a:gd name="adj" fmla="val 6000"/>
            </a:avLst>
          </a:prstGeom>
          <a:solidFill>
            <a:srgbClr val="151C17"/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10104120" y="2514600"/>
            <a:ext cx="502920" cy="502920"/>
          </a:xfrm>
          <a:prstGeom prst="ellipse">
            <a:avLst/>
          </a:prstGeom>
          <a:solidFill>
            <a:srgbClr val="8BD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D110F"/>
                </a:solidFill>
                <a:latin typeface="Segoe UI Semibold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04120" y="3108960"/>
            <a:ext cx="1307592" cy="5486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2F5F2"/>
                </a:solidFill>
                <a:latin typeface="Segoe UI Semibold"/>
              </a:rPr>
              <a:t>Tasdiq va baho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04120" y="3767328"/>
            <a:ext cx="130759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A9B5AC"/>
                </a:solidFill>
                <a:latin typeface="Segoe UI"/>
              </a:rPr>
              <a:t>Pul firmaga o'tadi, mijoz baho beradi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120640"/>
            <a:ext cx="2606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8BDA7F"/>
                </a:solidFill>
                <a:latin typeface="Segoe UI Semibold"/>
              </a:rPr>
              <a:t>Qat'iy narx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A9B5AC"/>
                </a:solidFill>
                <a:latin typeface="Segoe UI"/>
              </a:rPr>
              <a:t>firma oldindan belgilaydi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80" y="5120640"/>
            <a:ext cx="2606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8BDA7F"/>
                </a:solidFill>
                <a:latin typeface="Segoe UI Semibold"/>
              </a:rPr>
              <a:t>Escrow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A9B5AC"/>
                </a:solidFill>
                <a:latin typeface="Segoe UI"/>
              </a:rPr>
              <a:t>to'lov ish tasdiqlanguncha ushlanadi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26480" y="5120640"/>
            <a:ext cx="2606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8BDA7F"/>
                </a:solidFill>
                <a:latin typeface="Segoe UI Semibold"/>
              </a:rPr>
              <a:t>Jonli holat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A9B5AC"/>
                </a:solidFill>
                <a:latin typeface="Segoe UI"/>
              </a:rPr>
              <a:t>usta yo'lda, yetib keldi, ishlayapti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0" y="5120640"/>
            <a:ext cx="2606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8BDA7F"/>
                </a:solidFill>
                <a:latin typeface="Segoe UI Semibold"/>
              </a:rPr>
              <a:t>Nizo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A9B5AC"/>
                </a:solidFill>
                <a:latin typeface="Segoe UI"/>
              </a:rPr>
              <a:t>pul qaytariladi yoki muzlatiladi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8BDA7F"/>
                </a:solidFill>
                <a:latin typeface="Segoe UI Semibold"/>
              </a:rPr>
              <a:t>YANGI FUNKSIYA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F2F5F2"/>
                </a:solidFill>
                <a:latin typeface="Segoe UI Semibold"/>
              </a:rPr>
              <a:t>Bandlik jadvali: yashil — bo'sh, qizil — band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BDA7F"/>
                </a:solidFill>
                <a:latin typeface="Segoe UI Semibold"/>
              </a:rPr>
              <a:t>E-MAKON</a:t>
            </a:r>
            <a:r>
              <a:rPr sz="1000" b="0">
                <a:solidFill>
                  <a:srgbClr val="A9B5AC"/>
                </a:solidFill>
                <a:latin typeface="Segoe UI"/>
              </a:rPr>
              <a:t>  ·  Investorlar uchun taqdimot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46520"/>
            <a:ext cx="9418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A9B5AC"/>
                </a:solidFill>
                <a:latin typeface="Segoe UI"/>
              </a:rPr>
              <a:t>07 / 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" y="1563624"/>
            <a:ext cx="7022592" cy="4599432"/>
          </a:xfrm>
          <a:prstGeom prst="roundRect">
            <a:avLst>
              <a:gd name="adj" fmla="val 3000"/>
            </a:avLst>
          </a:prstGeom>
          <a:solidFill>
            <a:srgbClr val="1C241F"/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49808" y="1682496"/>
            <a:ext cx="91440" cy="91440"/>
          </a:xfrm>
          <a:prstGeom prst="ellipse">
            <a:avLst/>
          </a:prstGeom>
          <a:solidFill>
            <a:srgbClr val="E55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905256" y="1682496"/>
            <a:ext cx="91440" cy="91440"/>
          </a:xfrm>
          <a:prstGeom prst="ellipse">
            <a:avLst/>
          </a:prstGeom>
          <a:solidFill>
            <a:srgbClr val="F2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1060704" y="1682496"/>
            <a:ext cx="91440" cy="91440"/>
          </a:xfrm>
          <a:prstGeom prst="ellipse">
            <a:avLst/>
          </a:prstGeom>
          <a:solidFill>
            <a:srgbClr val="8BD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fa_schedule.png"/>
          <p:cNvPicPr>
            <a:picLocks noChangeAspect="1"/>
          </p:cNvPicPr>
          <p:nvPr/>
        </p:nvPicPr>
        <p:blipFill>
          <a:blip r:embed="rId2"/>
          <a:srcRect b="1684"/>
          <a:stretch>
            <a:fillRect/>
          </a:stretch>
        </p:blipFill>
        <p:spPr>
          <a:xfrm>
            <a:off x="640080" y="1856232"/>
            <a:ext cx="6949440" cy="427024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010144" y="1517904"/>
            <a:ext cx="1759475" cy="3593592"/>
          </a:xfrm>
          <a:prstGeom prst="roundRect">
            <a:avLst>
              <a:gd name="adj" fmla="val 9000"/>
            </a:avLst>
          </a:prstGeom>
          <a:solidFill>
            <a:srgbClr val="050706"/>
          </a:solidFill>
          <a:ln w="12700">
            <a:solidFill>
              <a:srgbClr val="3A47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m_sl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1600200"/>
            <a:ext cx="1594883" cy="3429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29800" y="1600200"/>
            <a:ext cx="178308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2F5F2"/>
                </a:solidFill>
                <a:latin typeface="Segoe UI Semibold"/>
              </a:rPr>
              <a:t>Mijoz ilovada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A9B5AC"/>
                </a:solidFill>
                <a:latin typeface="Segoe UI"/>
              </a:rPr>
              <a:t>firmaning bo'sh soatlarini ko'radi va faqat yashil vaqtni band qiladi.</a:t>
            </a:r>
          </a:p>
          <a:p>
            <a:pPr algn="l">
              <a:lnSpc>
                <a:spcPct val="115000"/>
              </a:lnSpc>
            </a:pPr>
            <a:r>
              <a:rPr sz="600" b="0">
                <a:solidFill>
                  <a:srgbClr val="F2F5F2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F2F5F2"/>
                </a:solidFill>
                <a:latin typeface="Segoe UI Semibold"/>
              </a:rPr>
              <a:t>Firma va superadmin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A9B5AC"/>
                </a:solidFill>
                <a:latin typeface="Segoe UI"/>
              </a:rPr>
              <a:t>bir xil jadvalni ko'radi; xizmat 1 soatdan boshlanadi, kerak bo'lsa +30 daq / +1 soat uzaytiriladi.</a:t>
            </a:r>
          </a:p>
          <a:p>
            <a:pPr algn="l">
              <a:lnSpc>
                <a:spcPct val="115000"/>
              </a:lnSpc>
            </a:pPr>
            <a:r>
              <a:rPr sz="600" b="0">
                <a:solidFill>
                  <a:srgbClr val="F2F5F2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F2F5F2"/>
                </a:solidFill>
                <a:latin typeface="Segoe UI Semibold"/>
              </a:rPr>
              <a:t>Sig'im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A9B5AC"/>
                </a:solidFill>
                <a:latin typeface="Segoe UI"/>
              </a:rPr>
              <a:t>= faol xodimlar soni. Hamma xodim band bo'lsa — soat qizil.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5349240"/>
            <a:ext cx="3657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8BDA7F"/>
                </a:solidFill>
                <a:latin typeface="Segoe UI"/>
              </a:rPr>
              <a:t>● </a:t>
            </a:r>
            <a:r>
              <a:rPr sz="1200" b="0">
                <a:solidFill>
                  <a:srgbClr val="A9B5AC"/>
                </a:solidFill>
                <a:latin typeface="Segoe UI"/>
              </a:rPr>
              <a:t>Bo'sh   </a:t>
            </a:r>
            <a:r>
              <a:rPr sz="1200" b="0">
                <a:solidFill>
                  <a:srgbClr val="E55B5B"/>
                </a:solidFill>
                <a:latin typeface="Segoe UI"/>
              </a:rPr>
              <a:t>● </a:t>
            </a:r>
            <a:r>
              <a:rPr sz="1200" b="0">
                <a:solidFill>
                  <a:srgbClr val="A9B5AC"/>
                </a:solidFill>
                <a:latin typeface="Segoe UI"/>
              </a:rPr>
              <a:t>Band   </a:t>
            </a:r>
            <a:r>
              <a:rPr sz="1200" b="0">
                <a:solidFill>
                  <a:srgbClr val="555E58"/>
                </a:solidFill>
                <a:latin typeface="Segoe UI"/>
              </a:rPr>
              <a:t>● </a:t>
            </a:r>
            <a:r>
              <a:rPr sz="1200" b="0">
                <a:solidFill>
                  <a:srgbClr val="A9B5AC"/>
                </a:solidFill>
                <a:latin typeface="Segoe UI"/>
              </a:rPr>
              <a:t>O'tgan</a:t>
            </a:r>
          </a:p>
          <a:p>
            <a:pPr algn="l">
              <a:lnSpc>
                <a:spcPct val="110000"/>
              </a:lnSpc>
            </a:pPr>
            <a:r>
              <a:rPr sz="1100" b="0">
                <a:solidFill>
                  <a:srgbClr val="A9B5AC"/>
                </a:solidFill>
                <a:latin typeface="Segoe UI"/>
              </a:rPr>
              <a:t>Ikki mijoz bir vaqtni band qila olmaydi — server tekshiradi.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8BDA7F"/>
                </a:solidFill>
                <a:latin typeface="Segoe UI Semibold"/>
              </a:rPr>
              <a:t>FIRMA PANELI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F2F5F2"/>
                </a:solidFill>
                <a:latin typeface="Segoe UI Semibold"/>
              </a:rPr>
              <a:t>Hamkor firma biznesini bitta oynadan boshqaradi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BDA7F"/>
                </a:solidFill>
                <a:latin typeface="Segoe UI Semibold"/>
              </a:rPr>
              <a:t>E-MAKON</a:t>
            </a:r>
            <a:r>
              <a:rPr sz="1000" b="0">
                <a:solidFill>
                  <a:srgbClr val="A9B5AC"/>
                </a:solidFill>
                <a:latin typeface="Segoe UI"/>
              </a:rPr>
              <a:t>  ·  Investorlar uchun taqdimot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46520"/>
            <a:ext cx="9418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A9B5AC"/>
                </a:solidFill>
                <a:latin typeface="Segoe UI"/>
              </a:rPr>
              <a:t>08 / 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" y="1563624"/>
            <a:ext cx="6382512" cy="4272534"/>
          </a:xfrm>
          <a:prstGeom prst="roundRect">
            <a:avLst>
              <a:gd name="adj" fmla="val 3000"/>
            </a:avLst>
          </a:prstGeom>
          <a:solidFill>
            <a:srgbClr val="1C241F"/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49808" y="1682496"/>
            <a:ext cx="91440" cy="91440"/>
          </a:xfrm>
          <a:prstGeom prst="ellipse">
            <a:avLst/>
          </a:prstGeom>
          <a:solidFill>
            <a:srgbClr val="E55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905256" y="1682496"/>
            <a:ext cx="91440" cy="91440"/>
          </a:xfrm>
          <a:prstGeom prst="ellipse">
            <a:avLst/>
          </a:prstGeom>
          <a:solidFill>
            <a:srgbClr val="F2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1060704" y="1682496"/>
            <a:ext cx="91440" cy="91440"/>
          </a:xfrm>
          <a:prstGeom prst="ellipse">
            <a:avLst/>
          </a:prstGeom>
          <a:solidFill>
            <a:srgbClr val="8BD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fa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56232"/>
            <a:ext cx="6309360" cy="394335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232904" y="1563624"/>
            <a:ext cx="4370832" cy="3015234"/>
          </a:xfrm>
          <a:prstGeom prst="roundRect">
            <a:avLst>
              <a:gd name="adj" fmla="val 3000"/>
            </a:avLst>
          </a:prstGeom>
          <a:solidFill>
            <a:srgbClr val="1C241F"/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7379208" y="1682496"/>
            <a:ext cx="91440" cy="91440"/>
          </a:xfrm>
          <a:prstGeom prst="ellipse">
            <a:avLst/>
          </a:prstGeom>
          <a:solidFill>
            <a:srgbClr val="E55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7534656" y="1682496"/>
            <a:ext cx="91440" cy="91440"/>
          </a:xfrm>
          <a:prstGeom prst="ellipse">
            <a:avLst/>
          </a:prstGeom>
          <a:solidFill>
            <a:srgbClr val="F2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690104" y="1682496"/>
            <a:ext cx="91440" cy="91440"/>
          </a:xfrm>
          <a:prstGeom prst="ellipse">
            <a:avLst/>
          </a:prstGeom>
          <a:solidFill>
            <a:srgbClr val="8BD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a_fin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1856232"/>
            <a:ext cx="4297680" cy="26860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269480" y="4892040"/>
            <a:ext cx="42976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8BDA7F"/>
                </a:solidFill>
                <a:latin typeface="Segoe UI Semibold"/>
              </a:rPr>
              <a:t>✓  </a:t>
            </a:r>
            <a:r>
              <a:rPr sz="1250" b="0">
                <a:solidFill>
                  <a:srgbClr val="F2F5F2"/>
                </a:solidFill>
                <a:latin typeface="Segoe UI"/>
              </a:rPr>
              <a:t>Buyurtmalar, ish bosqichlari, xodim biriktirish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8BDA7F"/>
                </a:solidFill>
                <a:latin typeface="Segoe UI Semibold"/>
              </a:rPr>
              <a:t>✓  </a:t>
            </a:r>
            <a:r>
              <a:rPr sz="1250" b="0">
                <a:solidFill>
                  <a:srgbClr val="F2F5F2"/>
                </a:solidFill>
                <a:latin typeface="Segoe UI"/>
              </a:rPr>
              <a:t>Moliya: ushlangan / o'tkazilgan pul, platforma ulushi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8BDA7F"/>
                </a:solidFill>
                <a:latin typeface="Segoe UI Semibold"/>
              </a:rPr>
              <a:t>✓  </a:t>
            </a:r>
            <a:r>
              <a:rPr sz="1250" b="0">
                <a:solidFill>
                  <a:srgbClr val="F2F5F2"/>
                </a:solidFill>
                <a:latin typeface="Segoe UI"/>
              </a:rPr>
              <a:t>Xodimlar, mijozlar, xarita, PDF hisobotlar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8BDA7F"/>
                </a:solidFill>
                <a:latin typeface="Segoe UI Semibold"/>
              </a:rPr>
              <a:t>SUPERADMIN PANELI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F2F5F2"/>
                </a:solidFill>
                <a:latin typeface="Segoe UI Semibold"/>
              </a:rPr>
              <a:t>Platforma ustidan to'liq nazorat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BDA7F"/>
                </a:solidFill>
                <a:latin typeface="Segoe UI Semibold"/>
              </a:rPr>
              <a:t>E-MAKON</a:t>
            </a:r>
            <a:r>
              <a:rPr sz="1000" b="0">
                <a:solidFill>
                  <a:srgbClr val="A9B5AC"/>
                </a:solidFill>
                <a:latin typeface="Segoe UI"/>
              </a:rPr>
              <a:t>  ·  Investorlar uchun taqdimot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46520"/>
            <a:ext cx="9418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A9B5AC"/>
                </a:solidFill>
                <a:latin typeface="Segoe UI"/>
              </a:rPr>
              <a:t>09 / 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" y="1563624"/>
            <a:ext cx="6382512" cy="4272534"/>
          </a:xfrm>
          <a:prstGeom prst="roundRect">
            <a:avLst>
              <a:gd name="adj" fmla="val 3000"/>
            </a:avLst>
          </a:prstGeom>
          <a:solidFill>
            <a:srgbClr val="1C241F"/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49808" y="1682496"/>
            <a:ext cx="91440" cy="91440"/>
          </a:xfrm>
          <a:prstGeom prst="ellipse">
            <a:avLst/>
          </a:prstGeom>
          <a:solidFill>
            <a:srgbClr val="E55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905256" y="1682496"/>
            <a:ext cx="91440" cy="91440"/>
          </a:xfrm>
          <a:prstGeom prst="ellipse">
            <a:avLst/>
          </a:prstGeom>
          <a:solidFill>
            <a:srgbClr val="F2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1060704" y="1682496"/>
            <a:ext cx="91440" cy="91440"/>
          </a:xfrm>
          <a:prstGeom prst="ellipse">
            <a:avLst/>
          </a:prstGeom>
          <a:solidFill>
            <a:srgbClr val="8BD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sa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56232"/>
            <a:ext cx="6309360" cy="394335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232904" y="1563624"/>
            <a:ext cx="4370832" cy="3015234"/>
          </a:xfrm>
          <a:prstGeom prst="roundRect">
            <a:avLst>
              <a:gd name="adj" fmla="val 3000"/>
            </a:avLst>
          </a:prstGeom>
          <a:solidFill>
            <a:srgbClr val="1C241F"/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7379208" y="1682496"/>
            <a:ext cx="91440" cy="91440"/>
          </a:xfrm>
          <a:prstGeom prst="ellipse">
            <a:avLst/>
          </a:prstGeom>
          <a:solidFill>
            <a:srgbClr val="E55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7534656" y="1682496"/>
            <a:ext cx="91440" cy="91440"/>
          </a:xfrm>
          <a:prstGeom prst="ellipse">
            <a:avLst/>
          </a:prstGeom>
          <a:solidFill>
            <a:srgbClr val="F2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690104" y="1682496"/>
            <a:ext cx="91440" cy="91440"/>
          </a:xfrm>
          <a:prstGeom prst="ellipse">
            <a:avLst/>
          </a:prstGeom>
          <a:solidFill>
            <a:srgbClr val="8BD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sa_fir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1856232"/>
            <a:ext cx="4297680" cy="26860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269480" y="4892040"/>
            <a:ext cx="42976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8BDA7F"/>
                </a:solidFill>
                <a:latin typeface="Segoe UI Semibold"/>
              </a:rPr>
              <a:t>✓  </a:t>
            </a:r>
            <a:r>
              <a:rPr sz="1250" b="0">
                <a:solidFill>
                  <a:srgbClr val="F2F5F2"/>
                </a:solidFill>
                <a:latin typeface="Segoe UI"/>
              </a:rPr>
              <a:t>Firmalar: moderatsiya, reyting, obuna, blok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8BDA7F"/>
                </a:solidFill>
                <a:latin typeface="Segoe UI Semibold"/>
              </a:rPr>
              <a:t>✓  </a:t>
            </a:r>
            <a:r>
              <a:rPr sz="1250" b="0">
                <a:solidFill>
                  <a:srgbClr val="F2F5F2"/>
                </a:solidFill>
                <a:latin typeface="Segoe UI"/>
              </a:rPr>
              <a:t>Escrow: to'lovni chiqarish, qaytarish, jarima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8BDA7F"/>
                </a:solidFill>
                <a:latin typeface="Segoe UI Semibold"/>
              </a:rPr>
              <a:t>✓  </a:t>
            </a:r>
            <a:r>
              <a:rPr sz="1250" b="0">
                <a:solidFill>
                  <a:srgbClr val="F2F5F2"/>
                </a:solidFill>
                <a:latin typeface="Segoe UI"/>
              </a:rPr>
              <a:t>Aylanma va komissiya hisobotlari, bannerlar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8BDA7F"/>
                </a:solidFill>
                <a:latin typeface="Segoe UI Semibold"/>
              </a:rPr>
              <a:t>ISHONCH VA SIFAT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F2F5F2"/>
                </a:solidFill>
                <a:latin typeface="Segoe UI Semibold"/>
              </a:rPr>
              <a:t>Nega mijoz va firma bizga ishonadi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BDA7F"/>
                </a:solidFill>
                <a:latin typeface="Segoe UI Semibold"/>
              </a:rPr>
              <a:t>E-MAKON</a:t>
            </a:r>
            <a:r>
              <a:rPr sz="1000" b="0">
                <a:solidFill>
                  <a:srgbClr val="A9B5AC"/>
                </a:solidFill>
                <a:latin typeface="Segoe UI"/>
              </a:rPr>
              <a:t>  ·  Investorlar uchun taqdimot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46520"/>
            <a:ext cx="9418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A9B5AC"/>
                </a:solidFill>
                <a:latin typeface="Segoe UI"/>
              </a:rPr>
              <a:t>10 / 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151C17"/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914400" y="196596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1F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>
                <a:solidFill>
                  <a:srgbClr val="8BDA7F"/>
                </a:solidFill>
                <a:latin typeface="Segoe UI Emoji"/>
              </a:rPr>
              <a:t>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0574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2F5F2"/>
                </a:solidFill>
                <a:latin typeface="Segoe UI Semibold"/>
              </a:rPr>
              <a:t>Escrow to'lov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97480"/>
            <a:ext cx="29718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A9B5AC"/>
                </a:solidFill>
                <a:latin typeface="Segoe UI"/>
              </a:rPr>
              <a:t>To'lov ish tasdiqlanguncha platforma hisobida. Holatlar: kutilmoqda, ushlangan, o'tkazilgan, qaytarilgan, nizoli, muzlatilgan. Har bir amal ikki tomonlama buxgalteriyada.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69164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151C17"/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4572000" y="196596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1F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>
                <a:solidFill>
                  <a:srgbClr val="8BDA7F"/>
                </a:solidFill>
                <a:latin typeface="Segoe UI Emoji"/>
              </a:rPr>
              <a:t>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20574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2F5F2"/>
                </a:solidFill>
                <a:latin typeface="Segoe UI Semibold"/>
              </a:rPr>
              <a:t>Reyting va sharhlar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697480"/>
            <a:ext cx="29718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A9B5AC"/>
                </a:solidFill>
                <a:latin typeface="Segoe UI"/>
              </a:rPr>
              <a:t>Faqat ishi yakunlangan mijoz baho qoldiradi — soxta sharh yo'q.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169164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151C17"/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8229600" y="196596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1F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>
                <a:solidFill>
                  <a:srgbClr val="8BDA7F"/>
                </a:solidFill>
                <a:latin typeface="Segoe UI Emoji"/>
              </a:rPr>
              <a:t>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20574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2F5F2"/>
                </a:solidFill>
                <a:latin typeface="Segoe UI Semibold"/>
              </a:rPr>
              <a:t>Jarima va taqiq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697480"/>
            <a:ext cx="29718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A9B5AC"/>
                </a:solidFill>
                <a:latin typeface="Segoe UI"/>
              </a:rPr>
              <a:t>Qoidabuzar firmaga 100 000 so'm jarima va 7 kunlik savdo taqig'i.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97764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151C17"/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914400" y="425196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1F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>
                <a:solidFill>
                  <a:srgbClr val="8BDA7F"/>
                </a:solidFill>
                <a:latin typeface="Segoe UI Emoji"/>
              </a:rPr>
              <a:t>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3434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2F5F2"/>
                </a:solidFill>
                <a:latin typeface="Segoe UI Semibold"/>
              </a:rPr>
              <a:t>Bonus ballar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983480"/>
            <a:ext cx="29718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A9B5AC"/>
                </a:solidFill>
                <a:latin typeface="Segoe UI"/>
              </a:rPr>
              <a:t>Har 10 000 so'm uchun 1 ball, 50 balldan almashtiriladi, 12 oy amal qiladi.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97764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151C17"/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4572000" y="425196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1F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>
                <a:solidFill>
                  <a:srgbClr val="8BDA7F"/>
                </a:solidFill>
                <a:latin typeface="Segoe UI Emoji"/>
              </a:rPr>
              <a:t>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43434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2F5F2"/>
                </a:solidFill>
                <a:latin typeface="Segoe UI Semibold"/>
              </a:rPr>
              <a:t>SMS orqali kirish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983480"/>
            <a:ext cx="29718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A9B5AC"/>
                </a:solidFill>
                <a:latin typeface="Segoe UI"/>
              </a:rPr>
              <a:t>6 xonali kod, 5 daqiqa amal qiladi, 5 urinish — parolsiz va xavfsiz.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55280" y="397764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151C17"/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8229600" y="425196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1F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>
                <a:solidFill>
                  <a:srgbClr val="8BDA7F"/>
                </a:solidFill>
                <a:latin typeface="Segoe UI Emoji"/>
              </a:rPr>
              <a:t>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0" y="43434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2F5F2"/>
                </a:solidFill>
                <a:latin typeface="Segoe UI Semibold"/>
              </a:rPr>
              <a:t>Shaffof narx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4983480"/>
            <a:ext cx="29718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A9B5AC"/>
                </a:solidFill>
                <a:latin typeface="Segoe UI"/>
              </a:rPr>
              <a:t>Narxni firma oldindan belgilaydi, superadmin moderatsiya qiladi.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8BDA7F"/>
                </a:solidFill>
                <a:latin typeface="Segoe UI Semibold"/>
              </a:rPr>
              <a:t>BIZNES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F2F5F2"/>
                </a:solidFill>
                <a:latin typeface="Segoe UI Semibold"/>
              </a:rPr>
              <a:t>Daromad qanday keladi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A9B5AC"/>
                </a:solidFill>
                <a:latin typeface="Segoe UI"/>
              </a:rPr>
              <a:t>Stavkalar superadmin panelida sozlanadi — bozor sinovidan keyin optimallashtiriladi.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BDA7F"/>
                </a:solidFill>
                <a:latin typeface="Segoe UI Semibold"/>
              </a:rPr>
              <a:t>E-MAKON</a:t>
            </a:r>
            <a:r>
              <a:rPr sz="1000" b="0">
                <a:solidFill>
                  <a:srgbClr val="A9B5AC"/>
                </a:solidFill>
                <a:latin typeface="Segoe UI"/>
              </a:rPr>
              <a:t>  ·  Investorlar uchun taqdimot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46520"/>
            <a:ext cx="9418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A9B5AC"/>
                </a:solidFill>
                <a:latin typeface="Segoe UI"/>
              </a:rPr>
              <a:t>11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3474720" cy="2606040"/>
          </a:xfrm>
          <a:prstGeom prst="roundRect">
            <a:avLst>
              <a:gd name="adj" fmla="val 6000"/>
            </a:avLst>
          </a:prstGeom>
          <a:solidFill>
            <a:srgbClr val="1F3A22"/>
          </a:solidFill>
          <a:ln w="12700">
            <a:solidFill>
              <a:srgbClr val="8BDA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914400" y="237744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8BD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>
                <a:solidFill>
                  <a:srgbClr val="0D110F"/>
                </a:solidFill>
                <a:latin typeface="Segoe UI Emoji"/>
              </a:rPr>
              <a:t>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4688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2F5F2"/>
                </a:solidFill>
                <a:latin typeface="Segoe UI Semibold"/>
              </a:rPr>
              <a:t>Buyurtma komissiyasi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546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8BDA7F"/>
                </a:solidFill>
                <a:latin typeface="Segoe UI Semibold"/>
              </a:rPr>
              <a:t>0.1% – 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0332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A9B5AC"/>
                </a:solidFill>
                <a:latin typeface="Segoe UI"/>
              </a:rPr>
              <a:t>Har bir yakunlangan buyurtmadan platforma ulushi. Firma qancha ko'p ishlasa, stavka shuncha past (sodiqlik).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103120"/>
            <a:ext cx="3474720" cy="2606040"/>
          </a:xfrm>
          <a:prstGeom prst="roundRect">
            <a:avLst>
              <a:gd name="adj" fmla="val 6000"/>
            </a:avLst>
          </a:prstGeom>
          <a:solidFill>
            <a:srgbClr val="151C17"/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572000" y="237744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1F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>
                <a:solidFill>
                  <a:srgbClr val="8BDA7F"/>
                </a:solidFill>
                <a:latin typeface="Segoe UI Emoji"/>
              </a:rPr>
              <a:t>$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4688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2F5F2"/>
                </a:solidFill>
                <a:latin typeface="Segoe UI Semibold"/>
              </a:rPr>
              <a:t>Firma obunasi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1546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8BDA7F"/>
                </a:solidFill>
                <a:latin typeface="Segoe UI Semibold"/>
              </a:rPr>
              <a:t>$9 / oy · $90 / yil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70332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A9B5AC"/>
                </a:solidFill>
                <a:latin typeface="Segoe UI"/>
              </a:rPr>
              <a:t>Panel, CRM va platformadagi joy uchun. Yangi firmaga 30 kun bepul.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55280" y="2103120"/>
            <a:ext cx="3474720" cy="2606040"/>
          </a:xfrm>
          <a:prstGeom prst="roundRect">
            <a:avLst>
              <a:gd name="adj" fmla="val 6000"/>
            </a:avLst>
          </a:prstGeom>
          <a:solidFill>
            <a:srgbClr val="151C17"/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8229600" y="237744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1F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>
                <a:solidFill>
                  <a:srgbClr val="8BDA7F"/>
                </a:solidFill>
                <a:latin typeface="Segoe UI Emoji"/>
              </a:rPr>
              <a:t>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24688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2F5F2"/>
                </a:solidFill>
                <a:latin typeface="Segoe UI Semibold"/>
              </a:rPr>
              <a:t>Qo'shimcha daromad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31546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8BDA7F"/>
                </a:solidFill>
                <a:latin typeface="Segoe UI Semibold"/>
              </a:rPr>
              <a:t>Reja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70332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A9B5AC"/>
                </a:solidFill>
                <a:latin typeface="Segoe UI"/>
              </a:rPr>
              <a:t>Reklama bannerlari, ro'yxatda yuqori joy, yillik parvarish shartnomalari (korxona va mahallalar uchun).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937760"/>
            <a:ext cx="10927080" cy="1234440"/>
          </a:xfrm>
          <a:prstGeom prst="roundRect">
            <a:avLst>
              <a:gd name="adj" fmla="val 6000"/>
            </a:avLst>
          </a:prstGeom>
          <a:solidFill>
            <a:srgbClr val="121A14"/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14400" y="507492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>
                <a:solidFill>
                  <a:srgbClr val="8BDA7F"/>
                </a:solidFill>
                <a:latin typeface="Segoe UI Semibold"/>
              </a:rPr>
              <a:t>Sodiqlik shkalasi (komissiya): </a:t>
            </a:r>
            <a:r>
              <a:rPr sz="1300" b="0">
                <a:solidFill>
                  <a:srgbClr val="F2F5F2"/>
                </a:solidFill>
                <a:latin typeface="Segoe UI"/>
              </a:rPr>
              <a:t>5 tagacha buyurtma — 0.30%  ·  5+ — 0.25%  ·  20+ — 0.20%  ·  50+ — 0.15%  ·  100+ — 0.10%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8BDA7F"/>
                </a:solidFill>
                <a:latin typeface="Segoe UI Semibold"/>
              </a:rPr>
              <a:t>Misol: </a:t>
            </a:r>
            <a:r>
              <a:rPr sz="1300" b="0">
                <a:solidFill>
                  <a:srgbClr val="A9B5AC"/>
                </a:solidFill>
                <a:latin typeface="Segoe UI"/>
              </a:rPr>
              <a:t>[ ___ ] firma × oyiga [ ___ ] buyurtma × o'rtacha chek [ ___ ] so'm = oylik aylanma [ ___ ] so'm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8BDA7F"/>
                </a:solidFill>
                <a:latin typeface="Segoe UI Semibold"/>
              </a:rPr>
              <a:t>XIZMATLAR KATALOGI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F2F5F2"/>
                </a:solidFill>
                <a:latin typeface="Segoe UI Semibold"/>
              </a:rPr>
              <a:t>9 ta xizmat turi — boshlang'ich narxlar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A9B5AC"/>
                </a:solidFill>
                <a:latin typeface="Segoe UI"/>
              </a:rPr>
              <a:t>Narxlar so'mda; har bir firma o'z narxini belgilaydi, mijoz solishtirib tanlaydi.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BDA7F"/>
                </a:solidFill>
                <a:latin typeface="Segoe UI Semibold"/>
              </a:rPr>
              <a:t>E-MAKON</a:t>
            </a:r>
            <a:r>
              <a:rPr sz="1000" b="0">
                <a:solidFill>
                  <a:srgbClr val="A9B5AC"/>
                </a:solidFill>
                <a:latin typeface="Segoe UI"/>
              </a:rPr>
              <a:t>  ·  Investorlar uchun taqdimot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46520"/>
            <a:ext cx="9418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A9B5AC"/>
                </a:solidFill>
                <a:latin typeface="Segoe UI"/>
              </a:rPr>
              <a:t>12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3474720" cy="1143000"/>
          </a:xfrm>
          <a:prstGeom prst="roundRect">
            <a:avLst>
              <a:gd name="adj" fmla="val 6000"/>
            </a:avLst>
          </a:prstGeom>
          <a:solidFill>
            <a:srgbClr val="151C17"/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68680" y="2395728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1F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>
                <a:solidFill>
                  <a:srgbClr val="8BDA7F"/>
                </a:solidFill>
                <a:latin typeface="Segoe UI Emoji"/>
              </a:rPr>
              <a:t>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3317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F2F5F2"/>
                </a:solidFill>
                <a:latin typeface="Segoe UI Semibold"/>
              </a:rPr>
              <a:t>Bepul konsultatsiya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71576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8BDA7F"/>
                </a:solidFill>
                <a:latin typeface="Segoe UI Semibold"/>
              </a:rPr>
              <a:t>0 — bepul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103120"/>
            <a:ext cx="3474720" cy="1143000"/>
          </a:xfrm>
          <a:prstGeom prst="roundRect">
            <a:avLst>
              <a:gd name="adj" fmla="val 6000"/>
            </a:avLst>
          </a:prstGeom>
          <a:solidFill>
            <a:srgbClr val="151C17"/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526280" y="2395728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1F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>
                <a:solidFill>
                  <a:srgbClr val="8BDA7F"/>
                </a:solidFill>
                <a:latin typeface="Segoe UI Emoji"/>
              </a:rPr>
              <a:t>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57800" y="23317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F2F5F2"/>
                </a:solidFill>
                <a:latin typeface="Segoe UI Semibold"/>
              </a:rPr>
              <a:t>Landshaft dizayn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7800" y="271576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8BDA7F"/>
                </a:solidFill>
                <a:latin typeface="Segoe UI Semibold"/>
              </a:rPr>
              <a:t>1.5 mln – 8.5 mln so'm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80" y="2103120"/>
            <a:ext cx="3474720" cy="1143000"/>
          </a:xfrm>
          <a:prstGeom prst="roundRect">
            <a:avLst>
              <a:gd name="adj" fmla="val 6000"/>
            </a:avLst>
          </a:prstGeom>
          <a:solidFill>
            <a:srgbClr val="151C17"/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183880" y="2395728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1F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>
                <a:solidFill>
                  <a:srgbClr val="8BDA7F"/>
                </a:solidFill>
                <a:latin typeface="Segoe UI Emoji"/>
              </a:rPr>
              <a:t>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3317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F2F5F2"/>
                </a:solidFill>
                <a:latin typeface="Segoe UI Semibold"/>
              </a:rPr>
              <a:t>Daraxt parvarishi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271576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8BDA7F"/>
                </a:solidFill>
                <a:latin typeface="Segoe UI Semibold"/>
              </a:rPr>
              <a:t>250 ming – 1.2 mln so'm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429000"/>
            <a:ext cx="3474720" cy="1143000"/>
          </a:xfrm>
          <a:prstGeom prst="roundRect">
            <a:avLst>
              <a:gd name="adj" fmla="val 6000"/>
            </a:avLst>
          </a:prstGeom>
          <a:solidFill>
            <a:srgbClr val="151C17"/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68680" y="3721608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1F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>
                <a:solidFill>
                  <a:srgbClr val="8BDA7F"/>
                </a:solidFill>
                <a:latin typeface="Segoe UI Emoji"/>
              </a:rPr>
              <a:t>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36576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F2F5F2"/>
                </a:solidFill>
                <a:latin typeface="Segoe UI Semibold"/>
              </a:rPr>
              <a:t>Gazon parvarishi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404164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8BDA7F"/>
                </a:solidFill>
                <a:latin typeface="Segoe UI Semibold"/>
              </a:rPr>
              <a:t>180 – 650 ming so'm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429000"/>
            <a:ext cx="3474720" cy="1143000"/>
          </a:xfrm>
          <a:prstGeom prst="roundRect">
            <a:avLst>
              <a:gd name="adj" fmla="val 6000"/>
            </a:avLst>
          </a:prstGeom>
          <a:solidFill>
            <a:srgbClr val="151C17"/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4526280" y="3721608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1F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>
                <a:solidFill>
                  <a:srgbClr val="8BDA7F"/>
                </a:solidFill>
                <a:latin typeface="Segoe UI Emoji"/>
              </a:rPr>
              <a:t>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36576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F2F5F2"/>
                </a:solidFill>
                <a:latin typeface="Segoe UI Semibold"/>
              </a:rPr>
              <a:t>Archaga shakl berish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800" y="404164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8BDA7F"/>
                </a:solidFill>
                <a:latin typeface="Segoe UI Semibold"/>
              </a:rPr>
              <a:t>300 ming – 2 mln so'm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55280" y="3429000"/>
            <a:ext cx="3474720" cy="1143000"/>
          </a:xfrm>
          <a:prstGeom prst="roundRect">
            <a:avLst>
              <a:gd name="adj" fmla="val 6000"/>
            </a:avLst>
          </a:prstGeom>
          <a:solidFill>
            <a:srgbClr val="151C17"/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8183880" y="3721608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1F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>
                <a:solidFill>
                  <a:srgbClr val="8BDA7F"/>
                </a:solidFill>
                <a:latin typeface="Segoe UI Emoji"/>
              </a:rPr>
              <a:t>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36576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F2F5F2"/>
                </a:solidFill>
                <a:latin typeface="Segoe UI Semibold"/>
              </a:rPr>
              <a:t>Hasharotlardan himoya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5400" y="404164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8BDA7F"/>
                </a:solidFill>
                <a:latin typeface="Segoe UI Semibold"/>
              </a:rPr>
              <a:t>220 – 900 ming so'm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4754880"/>
            <a:ext cx="3474720" cy="1143000"/>
          </a:xfrm>
          <a:prstGeom prst="roundRect">
            <a:avLst>
              <a:gd name="adj" fmla="val 6000"/>
            </a:avLst>
          </a:prstGeom>
          <a:solidFill>
            <a:srgbClr val="151C17"/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868680" y="5047488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1F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>
                <a:solidFill>
                  <a:srgbClr val="8BDA7F"/>
                </a:solidFill>
                <a:latin typeface="Segoe UI Emoji"/>
              </a:rPr>
              <a:t>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00200" y="49834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F2F5F2"/>
                </a:solidFill>
                <a:latin typeface="Segoe UI Semibold"/>
              </a:rPr>
              <a:t>O'g'itlash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00200" y="536752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8BDA7F"/>
                </a:solidFill>
                <a:latin typeface="Segoe UI Semibold"/>
              </a:rPr>
              <a:t>150 – 700 ming so'm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4754880"/>
            <a:ext cx="3474720" cy="1143000"/>
          </a:xfrm>
          <a:prstGeom prst="roundRect">
            <a:avLst>
              <a:gd name="adj" fmla="val 6000"/>
            </a:avLst>
          </a:prstGeom>
          <a:solidFill>
            <a:srgbClr val="151C17"/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4526280" y="5047488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1F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>
                <a:solidFill>
                  <a:srgbClr val="8BDA7F"/>
                </a:solidFill>
                <a:latin typeface="Segoe UI Emoji"/>
              </a:rPr>
              <a:t>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57800" y="49834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F2F5F2"/>
                </a:solidFill>
                <a:latin typeface="Segoe UI Semibold"/>
              </a:rPr>
              <a:t>Kafolat xizmati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57800" y="536752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8BDA7F"/>
                </a:solidFill>
                <a:latin typeface="Segoe UI Semibold"/>
              </a:rPr>
              <a:t>0 — bepul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55280" y="4754880"/>
            <a:ext cx="3474720" cy="1143000"/>
          </a:xfrm>
          <a:prstGeom prst="roundRect">
            <a:avLst>
              <a:gd name="adj" fmla="val 6000"/>
            </a:avLst>
          </a:prstGeom>
          <a:solidFill>
            <a:srgbClr val="151C17"/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8183880" y="5047488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1F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>
                <a:solidFill>
                  <a:srgbClr val="8BDA7F"/>
                </a:solidFill>
                <a:latin typeface="Segoe UI Emoji"/>
              </a:rPr>
              <a:t>💧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400" y="49834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F2F5F2"/>
                </a:solidFill>
                <a:latin typeface="Segoe UI Semibold"/>
              </a:rPr>
              <a:t>Sug'orish tizimi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15400" y="536752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8BDA7F"/>
                </a:solidFill>
                <a:latin typeface="Segoe UI Semibold"/>
              </a:rPr>
              <a:t>2.8 mln – 15 mln so'm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8BDA7F"/>
                </a:solidFill>
                <a:latin typeface="Segoe UI Semibold"/>
              </a:rPr>
              <a:t>TEXNOLOGIYA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F2F5F2"/>
                </a:solidFill>
                <a:latin typeface="Segoe UI Semibold"/>
              </a:rPr>
              <a:t>Zamonaviy, kengayadigan arxitektura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BDA7F"/>
                </a:solidFill>
                <a:latin typeface="Segoe UI Semibold"/>
              </a:rPr>
              <a:t>E-MAKON</a:t>
            </a:r>
            <a:r>
              <a:rPr sz="1000" b="0">
                <a:solidFill>
                  <a:srgbClr val="A9B5AC"/>
                </a:solidFill>
                <a:latin typeface="Segoe UI"/>
              </a:rPr>
              <a:t>  ·  Investorlar uchun taqdimot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46520"/>
            <a:ext cx="9418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A9B5AC"/>
                </a:solidFill>
                <a:latin typeface="Segoe UI"/>
              </a:rPr>
              <a:t>13 / 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151C17"/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8745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8BDA7F"/>
                </a:solidFill>
                <a:latin typeface="Segoe UI Semibold"/>
              </a:rPr>
              <a:t>Backend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185623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2F5F2"/>
                </a:solidFill>
                <a:latin typeface="Segoe UI Semibold"/>
              </a:rPr>
              <a:t>Django 5 · Django REST · JWT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2402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A9B5AC"/>
                </a:solidFill>
                <a:latin typeface="Segoe UI"/>
              </a:rPr>
              <a:t>Yagona API, rollar: mijoz, xodim, firma admin, superadmin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691640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151C17"/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46520" y="18745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8BDA7F"/>
                </a:solidFill>
                <a:latin typeface="Segoe UI Semibold"/>
              </a:rPr>
              <a:t>Mobil ilova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185623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2F5F2"/>
                </a:solidFill>
                <a:latin typeface="Segoe UI Semibold"/>
              </a:rPr>
              <a:t>Flutter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22402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A9B5AC"/>
                </a:solidFill>
                <a:latin typeface="Segoe UI"/>
              </a:rPr>
              <a:t>Bitta koddan Android, iOS va Web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898648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151C17"/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3081528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8BDA7F"/>
                </a:solidFill>
                <a:latin typeface="Segoe UI Semibold"/>
              </a:rPr>
              <a:t>Web panellar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30632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2F5F2"/>
                </a:solidFill>
                <a:latin typeface="Segoe UI Semibold"/>
              </a:rPr>
              <a:t>Next.js 16 · React · Tailwind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3447288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A9B5AC"/>
                </a:solidFill>
                <a:latin typeface="Segoe UI"/>
              </a:rPr>
              <a:t>Firma paneli va superadmin paneli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2898648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151C17"/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46520" y="3081528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8BDA7F"/>
                </a:solidFill>
                <a:latin typeface="Segoe UI Semibold"/>
              </a:rPr>
              <a:t>Telegram bot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30632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2F5F2"/>
                </a:solidFill>
                <a:latin typeface="Segoe UI Semibold"/>
              </a:rPr>
              <a:t>aiogram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3447288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A9B5AC"/>
                </a:solidFill>
                <a:latin typeface="Segoe UI"/>
              </a:rPr>
              <a:t>Kirish, buyurtma, murojaat, bildirishnoma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105656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151C17"/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14400" y="4288536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8BDA7F"/>
                </a:solidFill>
                <a:latin typeface="Segoe UI Semibold"/>
              </a:rPr>
              <a:t>Ma'lumotlar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0" y="427024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2F5F2"/>
                </a:solidFill>
                <a:latin typeface="Segoe UI Semibold"/>
              </a:rPr>
              <a:t>PostgreSQL · Redis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0320" y="4654296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A9B5AC"/>
                </a:solidFill>
                <a:latin typeface="Segoe UI"/>
              </a:rPr>
              <a:t>Tranzaksiyalar, escrow buxgalteriyasi, kesh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105656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151C17"/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446520" y="4288536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8BDA7F"/>
                </a:solidFill>
                <a:latin typeface="Segoe UI Semibold"/>
              </a:rPr>
              <a:t>Infratuzilma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40" y="427024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2F5F2"/>
                </a:solidFill>
                <a:latin typeface="Segoe UI Semibold"/>
              </a:rPr>
              <a:t>Docker · Gunicorn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2440" y="4654296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A9B5AC"/>
                </a:solidFill>
                <a:latin typeface="Segoe UI"/>
              </a:rPr>
              <a:t>Bir buyruq bilan serverga chiqarish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440680"/>
            <a:ext cx="10927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8BDA7F"/>
                </a:solidFill>
                <a:latin typeface="Segoe UI Semibold"/>
              </a:rPr>
              <a:t>99 ta avtomatik test</a:t>
            </a:r>
            <a:r>
              <a:rPr sz="1300" b="0">
                <a:solidFill>
                  <a:srgbClr val="A9B5AC"/>
                </a:solidFill>
                <a:latin typeface="Segoe UI"/>
              </a:rPr>
              <a:t>  ·  OpenAPI (Swagger) hujjatlar  ·  Bandlikni server tekshiradi (bir vaqtni ikki kishi band qila olmaydi)  ·  Rollar bo'yicha ruxsatlar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8BDA7F"/>
                </a:solidFill>
                <a:latin typeface="Segoe UI Semibold"/>
              </a:rPr>
              <a:t>HOZIRGI HOLAT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F2F5F2"/>
                </a:solidFill>
                <a:latin typeface="Segoe UI Semibold"/>
              </a:rPr>
              <a:t>MVP tayyor va ishlayapti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BDA7F"/>
                </a:solidFill>
                <a:latin typeface="Segoe UI Semibold"/>
              </a:rPr>
              <a:t>E-MAKON</a:t>
            </a:r>
            <a:r>
              <a:rPr sz="1000" b="0">
                <a:solidFill>
                  <a:srgbClr val="A9B5AC"/>
                </a:solidFill>
                <a:latin typeface="Segoe UI"/>
              </a:rPr>
              <a:t>  ·  Investorlar uchun taqdimot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46520"/>
            <a:ext cx="9418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A9B5AC"/>
                </a:solidFill>
                <a:latin typeface="Segoe UI"/>
              </a:rPr>
              <a:t>14 / 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00200"/>
            <a:ext cx="6035040" cy="4572000"/>
          </a:xfrm>
          <a:prstGeom prst="roundRect">
            <a:avLst>
              <a:gd name="adj" fmla="val 6000"/>
            </a:avLst>
          </a:prstGeom>
          <a:solidFill>
            <a:srgbClr val="151C17"/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8BDA7F"/>
                </a:solidFill>
                <a:latin typeface="Segoe UI Semibold"/>
              </a:rPr>
              <a:t>Bajarildi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40280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8BDA7F"/>
                </a:solidFill>
                <a:latin typeface="Segoe UI Semibold"/>
              </a:rPr>
              <a:t>✓  </a:t>
            </a:r>
            <a:r>
              <a:rPr sz="1300" b="0">
                <a:solidFill>
                  <a:srgbClr val="F2F5F2"/>
                </a:solidFill>
                <a:latin typeface="Segoe UI"/>
              </a:rPr>
              <a:t>Mobil ilova: SMS-kod bilan kirish, katalog, buyurtma, rasm yuklash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157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8BDA7F"/>
                </a:solidFill>
                <a:latin typeface="Segoe UI Semibold"/>
              </a:rPr>
              <a:t>✓  </a:t>
            </a:r>
            <a:r>
              <a:rPr sz="1300" b="0">
                <a:solidFill>
                  <a:srgbClr val="F2F5F2"/>
                </a:solidFill>
                <a:latin typeface="Segoe UI"/>
              </a:rPr>
              <a:t>Firmalar narxini solishtirish va qat'iy narx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91256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8BDA7F"/>
                </a:solidFill>
                <a:latin typeface="Segoe UI Semibold"/>
              </a:rPr>
              <a:t>✓  </a:t>
            </a:r>
            <a:r>
              <a:rPr sz="1300" b="0">
                <a:solidFill>
                  <a:srgbClr val="F2F5F2"/>
                </a:solidFill>
                <a:latin typeface="Segoe UI"/>
              </a:rPr>
              <a:t>Bandlik jadvali: yashil / qizil vaqtlar, vaqtni uzaytirish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666744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8BDA7F"/>
                </a:solidFill>
                <a:latin typeface="Segoe UI Semibold"/>
              </a:rPr>
              <a:t>✓  </a:t>
            </a:r>
            <a:r>
              <a:rPr sz="1300" b="0">
                <a:solidFill>
                  <a:srgbClr val="F2F5F2"/>
                </a:solidFill>
                <a:latin typeface="Segoe UI"/>
              </a:rPr>
              <a:t>Escrow to'lov (sinov rejimi), qaytarish, nizo, jarima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42232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8BDA7F"/>
                </a:solidFill>
                <a:latin typeface="Segoe UI Semibold"/>
              </a:rPr>
              <a:t>✓  </a:t>
            </a:r>
            <a:r>
              <a:rPr sz="1300" b="0">
                <a:solidFill>
                  <a:srgbClr val="F2F5F2"/>
                </a:solidFill>
                <a:latin typeface="Segoe UI"/>
              </a:rPr>
              <a:t>Firma paneli: buyurtma, xodim, moliya, hisobot (PDF)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617720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8BDA7F"/>
                </a:solidFill>
                <a:latin typeface="Segoe UI Semibold"/>
              </a:rPr>
              <a:t>✓  </a:t>
            </a:r>
            <a:r>
              <a:rPr sz="1300" b="0">
                <a:solidFill>
                  <a:srgbClr val="F2F5F2"/>
                </a:solidFill>
                <a:latin typeface="Segoe UI"/>
              </a:rPr>
              <a:t>Superadmin: firmalar, komissiya, obuna, xarita, bannerlar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9320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8BDA7F"/>
                </a:solidFill>
                <a:latin typeface="Segoe UI Semibold"/>
              </a:rPr>
              <a:t>✓  </a:t>
            </a:r>
            <a:r>
              <a:rPr sz="1300" b="0">
                <a:solidFill>
                  <a:srgbClr val="F2F5F2"/>
                </a:solidFill>
                <a:latin typeface="Segoe UI"/>
              </a:rPr>
              <a:t>Telegram bot: kirish, buyurtma, murojaatlar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568696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8BDA7F"/>
                </a:solidFill>
                <a:latin typeface="Segoe UI Semibold"/>
              </a:rPr>
              <a:t>✓  </a:t>
            </a:r>
            <a:r>
              <a:rPr sz="1300" b="0">
                <a:solidFill>
                  <a:srgbClr val="F2F5F2"/>
                </a:solidFill>
                <a:latin typeface="Segoe UI"/>
              </a:rPr>
              <a:t>Reyting, sharhlar va bonus ball tizimi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49440" y="1600200"/>
            <a:ext cx="2240280" cy="1371600"/>
          </a:xfrm>
          <a:prstGeom prst="roundRect">
            <a:avLst>
              <a:gd name="adj" fmla="val 6000"/>
            </a:avLst>
          </a:prstGeom>
          <a:solidFill>
            <a:srgbClr val="1F3A22"/>
          </a:solidFill>
          <a:ln w="12700">
            <a:solidFill>
              <a:srgbClr val="1F3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223760" y="178308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8BDA7F"/>
                </a:solidFill>
                <a:latin typeface="Segoe UI Semibol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24688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2F5F2"/>
                </a:solidFill>
                <a:latin typeface="Segoe UI"/>
              </a:rPr>
              <a:t>platforma: ilova, 2 panel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26880" y="1600200"/>
            <a:ext cx="2240280" cy="1371600"/>
          </a:xfrm>
          <a:prstGeom prst="roundRect">
            <a:avLst>
              <a:gd name="adj" fmla="val 6000"/>
            </a:avLst>
          </a:prstGeom>
          <a:solidFill>
            <a:srgbClr val="1F3A22"/>
          </a:solidFill>
          <a:ln w="12700">
            <a:solidFill>
              <a:srgbClr val="1F3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601200" y="178308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8BDA7F"/>
                </a:solidFill>
                <a:latin typeface="Segoe UI Semibold"/>
              </a:rPr>
              <a:t>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24688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2F5F2"/>
                </a:solidFill>
                <a:latin typeface="Segoe UI"/>
              </a:rPr>
              <a:t>xizmat turi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49440" y="3154680"/>
            <a:ext cx="2240280" cy="1371600"/>
          </a:xfrm>
          <a:prstGeom prst="roundRect">
            <a:avLst>
              <a:gd name="adj" fmla="val 6000"/>
            </a:avLst>
          </a:prstGeom>
          <a:solidFill>
            <a:srgbClr val="1F3A22"/>
          </a:solidFill>
          <a:ln w="12700">
            <a:solidFill>
              <a:srgbClr val="1F3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223760" y="333756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8BDA7F"/>
                </a:solidFill>
                <a:latin typeface="Segoe UI Semibold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40233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2F5F2"/>
                </a:solidFill>
                <a:latin typeface="Segoe UI"/>
              </a:rPr>
              <a:t>foydalanuvchi roli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26880" y="3154680"/>
            <a:ext cx="2240280" cy="1371600"/>
          </a:xfrm>
          <a:prstGeom prst="roundRect">
            <a:avLst>
              <a:gd name="adj" fmla="val 6000"/>
            </a:avLst>
          </a:prstGeom>
          <a:solidFill>
            <a:srgbClr val="1F3A22"/>
          </a:solidFill>
          <a:ln w="12700">
            <a:solidFill>
              <a:srgbClr val="1F3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601200" y="333756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8BDA7F"/>
                </a:solidFill>
                <a:latin typeface="Segoe UI Semibold"/>
              </a:rPr>
              <a:t>99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40233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2F5F2"/>
                </a:solidFill>
                <a:latin typeface="Segoe UI"/>
              </a:rPr>
              <a:t>avtomatik test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49440" y="4754880"/>
            <a:ext cx="4617720" cy="1417320"/>
          </a:xfrm>
          <a:prstGeom prst="roundRect">
            <a:avLst>
              <a:gd name="adj" fmla="val 6000"/>
            </a:avLst>
          </a:prstGeom>
          <a:solidFill>
            <a:srgbClr val="151C17"/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223760" y="4892040"/>
            <a:ext cx="4206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F2B84B"/>
                </a:solidFill>
                <a:latin typeface="Segoe UI Semibold"/>
              </a:rPr>
              <a:t>Pilot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B5AC"/>
                </a:solidFill>
                <a:latin typeface="Segoe UI"/>
              </a:rPr>
              <a:t>[ ___ ] hamkor firma bilan kelishuv, [ ___ ] sinov buyurtma — o'z raqamlaringizni kiriting.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BDA7F"/>
                </a:solidFill>
                <a:latin typeface="Segoe UI Semibold"/>
              </a:rPr>
              <a:t>E-MAKON</a:t>
            </a:r>
            <a:r>
              <a:rPr sz="1000" b="0">
                <a:solidFill>
                  <a:srgbClr val="A9B5AC"/>
                </a:solidFill>
                <a:latin typeface="Segoe UI"/>
              </a:rPr>
              <a:t>  ·  Investorlar uchun taqdimot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0" y="6446520"/>
            <a:ext cx="9418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A9B5AC"/>
                </a:solidFill>
                <a:latin typeface="Segoe UI"/>
              </a:rPr>
              <a:t>15 / 16</a:t>
            </a:r>
          </a:p>
        </p:txBody>
      </p:sp>
      <p:pic>
        <p:nvPicPr>
          <p:cNvPr id="4" name="Picture 3" descr="future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D110F">
                  <a:alpha val="97000"/>
                </a:srgbClr>
              </a:gs>
              <a:gs pos="55000">
                <a:srgbClr val="0D110F">
                  <a:alpha val="88000"/>
                </a:srgbClr>
              </a:gs>
              <a:gs pos="100000">
                <a:srgbClr val="0D110F">
                  <a:alpha val="4500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8BDA7F"/>
                </a:solidFill>
                <a:latin typeface="Segoe UI Semibold"/>
              </a:rPr>
              <a:t>KELAJAKDAGI USTUVOR VAZIFALAR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F2F5F2"/>
                </a:solidFill>
                <a:latin typeface="Segoe UI Semibold"/>
              </a:rPr>
              <a:t>Yo'l xaritasi: 12 oy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4519"/>
            <a:ext cx="2606040" cy="54864"/>
          </a:xfrm>
          <a:prstGeom prst="rect">
            <a:avLst/>
          </a:prstGeom>
          <a:solidFill>
            <a:srgbClr val="8BD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640080" y="1764792"/>
            <a:ext cx="274320" cy="274320"/>
          </a:xfrm>
          <a:prstGeom prst="ellipse">
            <a:avLst/>
          </a:prstGeom>
          <a:solidFill>
            <a:srgbClr val="8BDA7F"/>
          </a:solidFill>
          <a:ln w="12700">
            <a:solidFill>
              <a:srgbClr val="8BDA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40080" y="2286000"/>
            <a:ext cx="2606040" cy="3566160"/>
          </a:xfrm>
          <a:prstGeom prst="roundRect">
            <a:avLst>
              <a:gd name="adj" fmla="val 6000"/>
            </a:avLst>
          </a:prstGeom>
          <a:solidFill>
            <a:srgbClr val="151C17">
              <a:alpha val="88000"/>
            </a:srgbClr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868680" y="251460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8BD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100" b="1">
                <a:solidFill>
                  <a:srgbClr val="0D110F"/>
                </a:solidFill>
                <a:latin typeface="Segoe UI Semibold"/>
              </a:rPr>
              <a:t>0–1 oy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9718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2F5F2"/>
                </a:solidFill>
                <a:latin typeface="Segoe UI Semibold"/>
              </a:rPr>
              <a:t>Ishga tushirish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520440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8BDA7F"/>
                </a:solidFill>
                <a:latin typeface="Segoe UI Semibold"/>
              </a:rPr>
              <a:t>›  </a:t>
            </a:r>
            <a:r>
              <a:rPr sz="1250" b="0">
                <a:solidFill>
                  <a:srgbClr val="F2F5F2"/>
                </a:solidFill>
                <a:latin typeface="Segoe UI"/>
              </a:rPr>
              <a:t>SMS provayder (Eskiz / Playmobile)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33672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8BDA7F"/>
                </a:solidFill>
                <a:latin typeface="Segoe UI Semibold"/>
              </a:rPr>
              <a:t>›  </a:t>
            </a:r>
            <a:r>
              <a:rPr sz="1250" b="0">
                <a:solidFill>
                  <a:srgbClr val="F2F5F2"/>
                </a:solidFill>
                <a:latin typeface="Segoe UI"/>
              </a:rPr>
              <a:t>Click va Payme to'liq integratsiya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946904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8BDA7F"/>
                </a:solidFill>
                <a:latin typeface="Segoe UI Semibold"/>
              </a:rPr>
              <a:t>›  </a:t>
            </a:r>
            <a:r>
              <a:rPr sz="1250" b="0">
                <a:solidFill>
                  <a:srgbClr val="F2F5F2"/>
                </a:solidFill>
                <a:latin typeface="Segoe UI"/>
              </a:rPr>
              <a:t>Push-bildirishnomalar (FCM)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10712" y="1874519"/>
            <a:ext cx="2606040" cy="54864"/>
          </a:xfrm>
          <a:prstGeom prst="rect">
            <a:avLst/>
          </a:prstGeom>
          <a:solidFill>
            <a:srgbClr val="26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3410712" y="1764792"/>
            <a:ext cx="274320" cy="274320"/>
          </a:xfrm>
          <a:prstGeom prst="ellipse">
            <a:avLst/>
          </a:prstGeom>
          <a:solidFill>
            <a:srgbClr val="151C17"/>
          </a:solidFill>
          <a:ln w="12700">
            <a:solidFill>
              <a:srgbClr val="8BDA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3410712" y="2286000"/>
            <a:ext cx="2606040" cy="3566160"/>
          </a:xfrm>
          <a:prstGeom prst="roundRect">
            <a:avLst>
              <a:gd name="adj" fmla="val 6000"/>
            </a:avLst>
          </a:prstGeom>
          <a:solidFill>
            <a:srgbClr val="151C17">
              <a:alpha val="88000"/>
            </a:srgbClr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3639312" y="251460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1F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100" b="1">
                <a:solidFill>
                  <a:srgbClr val="8BDA7F"/>
                </a:solidFill>
                <a:latin typeface="Segoe UI Semibold"/>
              </a:rPr>
              <a:t>1–3 oy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9312" y="29718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2F5F2"/>
                </a:solidFill>
                <a:latin typeface="Segoe UI Semibold"/>
              </a:rPr>
              <a:t>Do'konlarga chiqish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9312" y="3520440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8BDA7F"/>
                </a:solidFill>
                <a:latin typeface="Segoe UI Semibold"/>
              </a:rPr>
              <a:t>›  </a:t>
            </a:r>
            <a:r>
              <a:rPr sz="1250" b="0">
                <a:solidFill>
                  <a:srgbClr val="F2F5F2"/>
                </a:solidFill>
                <a:latin typeface="Segoe UI"/>
              </a:rPr>
              <a:t>Google Play va App Store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9312" y="4233672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8BDA7F"/>
                </a:solidFill>
                <a:latin typeface="Segoe UI Semibold"/>
              </a:rPr>
              <a:t>›  </a:t>
            </a:r>
            <a:r>
              <a:rPr sz="1250" b="0">
                <a:solidFill>
                  <a:srgbClr val="F2F5F2"/>
                </a:solidFill>
                <a:latin typeface="Segoe UI"/>
              </a:rPr>
              <a:t>Sharh, bonus, sevimlilar serverda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9312" y="4946904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8BDA7F"/>
                </a:solidFill>
                <a:latin typeface="Segoe UI Semibold"/>
              </a:rPr>
              <a:t>›  </a:t>
            </a:r>
            <a:r>
              <a:rPr sz="1250" b="0">
                <a:solidFill>
                  <a:srgbClr val="F2F5F2"/>
                </a:solidFill>
                <a:latin typeface="Segoe UI"/>
              </a:rPr>
              <a:t>Parvarish shartnomasi ekrani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1344" y="1874519"/>
            <a:ext cx="2606040" cy="54864"/>
          </a:xfrm>
          <a:prstGeom prst="rect">
            <a:avLst/>
          </a:prstGeom>
          <a:solidFill>
            <a:srgbClr val="26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6181344" y="1764792"/>
            <a:ext cx="274320" cy="274320"/>
          </a:xfrm>
          <a:prstGeom prst="ellipse">
            <a:avLst/>
          </a:prstGeom>
          <a:solidFill>
            <a:srgbClr val="151C17"/>
          </a:solidFill>
          <a:ln w="12700">
            <a:solidFill>
              <a:srgbClr val="8BDA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6181344" y="2286000"/>
            <a:ext cx="2606040" cy="3566160"/>
          </a:xfrm>
          <a:prstGeom prst="roundRect">
            <a:avLst>
              <a:gd name="adj" fmla="val 6000"/>
            </a:avLst>
          </a:prstGeom>
          <a:solidFill>
            <a:srgbClr val="151C17">
              <a:alpha val="88000"/>
            </a:srgbClr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6409944" y="251460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1F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100" b="1">
                <a:solidFill>
                  <a:srgbClr val="8BDA7F"/>
                </a:solidFill>
                <a:latin typeface="Segoe UI Semibold"/>
              </a:rPr>
              <a:t>3–6 oy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9944" y="29718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2F5F2"/>
                </a:solidFill>
                <a:latin typeface="Segoe UI Semibold"/>
              </a:rPr>
              <a:t>O'sish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9944" y="3520440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8BDA7F"/>
                </a:solidFill>
                <a:latin typeface="Segoe UI Semibold"/>
              </a:rPr>
              <a:t>›  </a:t>
            </a:r>
            <a:r>
              <a:rPr sz="1250" b="0">
                <a:solidFill>
                  <a:srgbClr val="F2F5F2"/>
                </a:solidFill>
                <a:latin typeface="Segoe UI"/>
              </a:rPr>
              <a:t>Toshkentda [ __ ]+ hamkor firma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9944" y="4233672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8BDA7F"/>
                </a:solidFill>
                <a:latin typeface="Segoe UI Semibold"/>
              </a:rPr>
              <a:t>›  </a:t>
            </a:r>
            <a:r>
              <a:rPr sz="1250" b="0">
                <a:solidFill>
                  <a:srgbClr val="F2F5F2"/>
                </a:solidFill>
                <a:latin typeface="Segoe UI"/>
              </a:rPr>
              <a:t>Obuna to'lovini avtomatlashtirish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9944" y="4946904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8BDA7F"/>
                </a:solidFill>
                <a:latin typeface="Segoe UI Semibold"/>
              </a:rPr>
              <a:t>›  </a:t>
            </a:r>
            <a:r>
              <a:rPr sz="1250" b="0">
                <a:solidFill>
                  <a:srgbClr val="F2F5F2"/>
                </a:solidFill>
                <a:latin typeface="Segoe UI"/>
              </a:rPr>
              <a:t>Marketing va hamkorlik dasturi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51976" y="1874519"/>
            <a:ext cx="2606040" cy="54864"/>
          </a:xfrm>
          <a:prstGeom prst="rect">
            <a:avLst/>
          </a:prstGeom>
          <a:solidFill>
            <a:srgbClr val="26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8951976" y="1764792"/>
            <a:ext cx="274320" cy="274320"/>
          </a:xfrm>
          <a:prstGeom prst="ellipse">
            <a:avLst/>
          </a:prstGeom>
          <a:solidFill>
            <a:srgbClr val="151C17"/>
          </a:solidFill>
          <a:ln w="12700">
            <a:solidFill>
              <a:srgbClr val="8BDA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8951976" y="2286000"/>
            <a:ext cx="2606040" cy="3566160"/>
          </a:xfrm>
          <a:prstGeom prst="roundRect">
            <a:avLst>
              <a:gd name="adj" fmla="val 6000"/>
            </a:avLst>
          </a:prstGeom>
          <a:solidFill>
            <a:srgbClr val="151C17">
              <a:alpha val="88000"/>
            </a:srgbClr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9180576" y="251460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1F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100" b="1">
                <a:solidFill>
                  <a:srgbClr val="8BDA7F"/>
                </a:solidFill>
                <a:latin typeface="Segoe UI Semibold"/>
              </a:rPr>
              <a:t>6–12 oy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0576" y="29718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2F5F2"/>
                </a:solidFill>
                <a:latin typeface="Segoe UI Semibold"/>
              </a:rPr>
              <a:t>Kengayish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80576" y="3520440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8BDA7F"/>
                </a:solidFill>
                <a:latin typeface="Segoe UI Semibold"/>
              </a:rPr>
              <a:t>›  </a:t>
            </a:r>
            <a:r>
              <a:rPr sz="1250" b="0">
                <a:solidFill>
                  <a:srgbClr val="F2F5F2"/>
                </a:solidFill>
                <a:latin typeface="Segoe UI"/>
              </a:rPr>
              <a:t>Viloyat markazlariga chiqish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80576" y="4233672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8BDA7F"/>
                </a:solidFill>
                <a:latin typeface="Segoe UI Semibold"/>
              </a:rPr>
              <a:t>›  </a:t>
            </a:r>
            <a:r>
              <a:rPr sz="1250" b="0">
                <a:solidFill>
                  <a:srgbClr val="F2F5F2"/>
                </a:solidFill>
                <a:latin typeface="Segoe UI"/>
              </a:rPr>
              <a:t>B2B: korxona va mahalla shartnomalari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80576" y="4946904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8BDA7F"/>
                </a:solidFill>
                <a:latin typeface="Segoe UI Semibold"/>
              </a:rPr>
              <a:t>›  </a:t>
            </a:r>
            <a:r>
              <a:rPr sz="1250" b="0">
                <a:solidFill>
                  <a:srgbClr val="F2F5F2"/>
                </a:solidFill>
                <a:latin typeface="Segoe UI"/>
              </a:rPr>
              <a:t>AI: rasm va maydon bo'yicha narx bahosi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BDA7F"/>
                </a:solidFill>
                <a:latin typeface="Segoe UI Semibold"/>
              </a:rPr>
              <a:t>E-MAKON</a:t>
            </a:r>
            <a:r>
              <a:rPr sz="1000" b="0">
                <a:solidFill>
                  <a:srgbClr val="A9B5AC"/>
                </a:solidFill>
                <a:latin typeface="Segoe UI"/>
              </a:rPr>
              <a:t>  ·  Investorlar uchun taqdimot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07040" y="6446520"/>
            <a:ext cx="9418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A9B5AC"/>
                </a:solidFill>
                <a:latin typeface="Segoe U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8BDA7F"/>
                </a:solidFill>
                <a:latin typeface="Segoe UI Semibold"/>
              </a:rPr>
              <a:t>INVESTITSIYA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F2F5F2"/>
                </a:solidFill>
                <a:latin typeface="Segoe UI Semibold"/>
              </a:rPr>
              <a:t>Biz nimani so'raymiz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BDA7F"/>
                </a:solidFill>
                <a:latin typeface="Segoe UI Semibold"/>
              </a:rPr>
              <a:t>E-MAKON</a:t>
            </a:r>
            <a:r>
              <a:rPr sz="1000" b="0">
                <a:solidFill>
                  <a:srgbClr val="A9B5AC"/>
                </a:solidFill>
                <a:latin typeface="Segoe UI"/>
              </a:rPr>
              <a:t>  ·  Investorlar uchun taqdimot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46520"/>
            <a:ext cx="9418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A9B5AC"/>
                </a:solidFill>
                <a:latin typeface="Segoe UI"/>
              </a:rPr>
              <a:t>16 / 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4846320" cy="4480560"/>
          </a:xfrm>
          <a:prstGeom prst="roundRect">
            <a:avLst>
              <a:gd name="adj" fmla="val 6000"/>
            </a:avLst>
          </a:prstGeom>
          <a:solidFill>
            <a:srgbClr val="1F3A22"/>
          </a:solidFill>
          <a:ln w="12700">
            <a:solidFill>
              <a:srgbClr val="8BDA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8BDA7F"/>
                </a:solidFill>
                <a:latin typeface="Segoe UI Semibold"/>
              </a:rPr>
              <a:t>Jalb qilinadigan mablag'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31720"/>
            <a:ext cx="4297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5F2"/>
                </a:solidFill>
                <a:latin typeface="Segoe UI Semibold"/>
              </a:rPr>
              <a:t>$ [ ______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20040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A9B5AC"/>
                </a:solidFill>
                <a:latin typeface="Segoe UI"/>
              </a:rPr>
              <a:t>evaziga [ __ ]% ulush  ·  [ __ ] oyga yetadi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86200"/>
            <a:ext cx="429768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1">
                <a:solidFill>
                  <a:srgbClr val="F2F5F2"/>
                </a:solidFill>
                <a:latin typeface="Segoe UI Semibold"/>
              </a:rPr>
              <a:t>Natija (12 oy):</a:t>
            </a:r>
          </a:p>
          <a:p>
            <a:pPr algn="l">
              <a:lnSpc>
                <a:spcPct val="140000"/>
              </a:lnSpc>
            </a:pPr>
            <a:r>
              <a:rPr sz="1350" b="0">
                <a:solidFill>
                  <a:srgbClr val="A9B5AC"/>
                </a:solidFill>
                <a:latin typeface="Segoe UI"/>
              </a:rPr>
              <a:t>›  [ __ ] hamkor firma</a:t>
            </a:r>
          </a:p>
          <a:p>
            <a:pPr algn="l">
              <a:lnSpc>
                <a:spcPct val="140000"/>
              </a:lnSpc>
            </a:pPr>
            <a:r>
              <a:rPr sz="1350" b="0">
                <a:solidFill>
                  <a:srgbClr val="A9B5AC"/>
                </a:solidFill>
                <a:latin typeface="Segoe UI"/>
              </a:rPr>
              <a:t>›  oyiga [ __ ] buyurtma</a:t>
            </a:r>
          </a:p>
          <a:p>
            <a:pPr algn="l">
              <a:lnSpc>
                <a:spcPct val="140000"/>
              </a:lnSpc>
            </a:pPr>
            <a:r>
              <a:rPr sz="1350" b="0">
                <a:solidFill>
                  <a:srgbClr val="A9B5AC"/>
                </a:solidFill>
                <a:latin typeface="Segoe UI"/>
              </a:rPr>
              <a:t>›  [ __ ] shaharda ishlash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1691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8BDA7F"/>
                </a:solidFill>
                <a:latin typeface="Segoe UI Semibold"/>
              </a:rPr>
              <a:t>Mablag' qayerga sarflanadi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2194560"/>
            <a:ext cx="5715000" cy="749808"/>
          </a:xfrm>
          <a:prstGeom prst="roundRect">
            <a:avLst>
              <a:gd name="adj" fmla="val 6000"/>
            </a:avLst>
          </a:prstGeom>
          <a:solidFill>
            <a:srgbClr val="151C17"/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126480" y="241401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2F5F2"/>
                </a:solidFill>
                <a:latin typeface="Segoe UI Semibold"/>
              </a:rPr>
              <a:t>Marketing va mijoz jalb qilish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0" y="239572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800" b="1">
                <a:solidFill>
                  <a:srgbClr val="8BDA7F"/>
                </a:solidFill>
                <a:latin typeface="Segoe UI Semibold"/>
              </a:rPr>
              <a:t>__%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3108960"/>
            <a:ext cx="5715000" cy="749808"/>
          </a:xfrm>
          <a:prstGeom prst="roundRect">
            <a:avLst>
              <a:gd name="adj" fmla="val 6000"/>
            </a:avLst>
          </a:prstGeom>
          <a:solidFill>
            <a:srgbClr val="151C17"/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126480" y="332841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2F5F2"/>
                </a:solidFill>
                <a:latin typeface="Segoe UI Semibold"/>
              </a:rPr>
              <a:t>Dasturlash va integratsiyalar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331012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800" b="1">
                <a:solidFill>
                  <a:srgbClr val="8BDA7F"/>
                </a:solidFill>
                <a:latin typeface="Segoe UI Semibold"/>
              </a:rPr>
              <a:t>__%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4023360"/>
            <a:ext cx="5715000" cy="749808"/>
          </a:xfrm>
          <a:prstGeom prst="roundRect">
            <a:avLst>
              <a:gd name="adj" fmla="val 6000"/>
            </a:avLst>
          </a:prstGeom>
          <a:solidFill>
            <a:srgbClr val="151C17"/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126480" y="424281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2F5F2"/>
                </a:solidFill>
                <a:latin typeface="Segoe UI Semibold"/>
              </a:rPr>
              <a:t>Jamoa (sotuv, qo'llab-quvvatlash)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422452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800" b="1">
                <a:solidFill>
                  <a:srgbClr val="8BDA7F"/>
                </a:solidFill>
                <a:latin typeface="Segoe UI Semibold"/>
              </a:rPr>
              <a:t>__%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0" y="4937760"/>
            <a:ext cx="5715000" cy="749808"/>
          </a:xfrm>
          <a:prstGeom prst="roundRect">
            <a:avLst>
              <a:gd name="adj" fmla="val 6000"/>
            </a:avLst>
          </a:prstGeom>
          <a:solidFill>
            <a:srgbClr val="151C17"/>
          </a:solidFill>
          <a:ln w="12700">
            <a:solidFill>
              <a:srgbClr val="26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126480" y="515721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2F5F2"/>
                </a:solidFill>
                <a:latin typeface="Segoe UI Semibold"/>
              </a:rPr>
              <a:t>Server, litsenziya, operatsion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513892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800" b="1">
                <a:solidFill>
                  <a:srgbClr val="8BDA7F"/>
                </a:solidFill>
                <a:latin typeface="Segoe UI Semibold"/>
              </a:rPr>
              <a:t>__%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5897880"/>
            <a:ext cx="5715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A9B5AC"/>
                </a:solidFill>
                <a:latin typeface="Segoe UI"/>
              </a:rPr>
              <a:t>Kontakt: [ Ism Familiya ]  ·  [ +998 __ ___ __ __ ]  ·  [ email / Telegram 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