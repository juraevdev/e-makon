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672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Salomlashish. E-MAKON — bog'dorchilik va landshaft xizmatlarini buyurtma qilish, bajarish va to'lashni bitta platformaga jamlagan loyiha. 10–12 daqiqada muammo, yechim, hozirgi holat va kelajak rejalarini ko'rsatamiz.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Bugun hovli yoki dacha egasi bog'ini parvarish qildirmoqchi bo'lsa, ustani tanishlar orqali qidiradi. Narx, vaqt va sifat bo'yicha hech qanday kafolat yo'q. Firmalar esa buyurtmalarni daftarda yuritadi.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Bozor raqamlarini rasmiy statistika (stat.uz) yoki o'z tadqiqotingiz asosida kiriting. Taxminiy raqam aytmaslik — investorlar manbani so'raydi.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Yechim — uch tomonni (mijoz, firma, platforma) bitta tizimga bog'lash. Telegram bot ilovani o'rnatmagan foydalanuvchilar uchun qo'shimcha kirish kanali.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Mijoz xizmatni tanlaydi, bir nechta firmaning qat'iy narxini solishtiradi, firmaning bo'sh vaqtini ko'radi va buyurtma beradi. Kirish SMS-kod orqali.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Asosiy farq — ishonch. Mijoz puli platformada turadi, ish bajarilib tasdiqlangandan keyingina firmaga o'tadi. Muammo bo'lsa — qaytariladi va firma jarimalanadi.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Firma uchun bu bepul CRM: buyurtmalar, xodimlar, moliya va hisobotlar bir joyda.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Superadmin barcha firmalar, buyurtmalar va pul oqimini real vaqtda ko'radi.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Bu mexanizmlarning barchasi kodda ishlaydi va avtomatik testlar bilan tekshirilgan.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MUHIM: hozirgi sozlamada komissiya 0.30% (foiz). Agar maqsad 30% bo'lsa — superadmin sozlamasida o'zgartiring va slaydni yangilang. Misol qatorini o'z prognozingiz bilan to'ldiring.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Birinchi bosqich — haqiqiy to'lov va SMS: bular ishga tushirish uchun majburiy. Keyin do'konlarga chiqish va hamkor firmalar sonini oshirish.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10F">
                  <a:alpha val="100000"/>
                </a:srgbClr>
              </a:gs>
              <a:gs pos="38000">
                <a:srgbClr val="0D110F">
                  <a:alpha val="92000"/>
                </a:srgbClr>
              </a:gs>
              <a:gs pos="70000">
                <a:srgbClr val="0D110F">
                  <a:alpha val="10000"/>
                </a:srgbClr>
              </a:gs>
              <a:gs pos="100000">
                <a:srgbClr val="0D110F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gradFill rotWithShape="1">
            <a:gsLst>
              <a:gs pos="0">
                <a:srgbClr val="0D110F">
                  <a:alpha val="0"/>
                </a:srgbClr>
              </a:gs>
              <a:gs pos="100000">
                <a:srgbClr val="0D110F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8BDA7F"/>
                </a:solidFill>
                <a:latin typeface="Segoe UI Semibold"/>
              </a:rPr>
              <a:t>INVESTORLAR UCHUN TAQDIMOT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200" b="1">
                <a:solidFill>
                  <a:srgbClr val="8BDA7F"/>
                </a:solidFill>
                <a:latin typeface="Segoe UI Semibold"/>
              </a:rPr>
              <a:t>E-MAKON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6692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2F5F2"/>
                </a:solidFill>
                <a:latin typeface="Segoe UI Semibold"/>
              </a:rPr>
              <a:t>Bog' va landshaft xizmatlari uchun yagona raqamli platforma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A9B5AC"/>
                </a:solidFill>
                <a:latin typeface="Segoe UI"/>
              </a:rPr>
              <a:t>Mijoz · Firma · Platforma — bitta tizimda: qat'iy narx, bo'sh vaqtni ko'rish, xavfsiz to'lov va jonli kuzatuv.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Toshkent · 2026</a:t>
            </a:r>
            <a:r>
              <a:rPr sz="1200" b="0">
                <a:solidFill>
                  <a:srgbClr val="26352C"/>
                </a:solidFill>
                <a:latin typeface="Segoe UI"/>
              </a:rPr>
              <a:t>   |   </a:t>
            </a:r>
            <a:r>
              <a:rPr sz="1200" b="0">
                <a:solidFill>
                  <a:srgbClr val="A9B5AC"/>
                </a:solidFill>
                <a:latin typeface="Segoe UI"/>
              </a:rPr>
              <a:t>Mobil ilova · Firma paneli · Superadmin · Telegram bot</a:t>
            </a:r>
          </a:p>
        </p:txBody>
      </p:sp>
      <p:sp>
        <p:nvSpPr>
          <p:cNvPr id="10" name="AutoShape 2" descr="&quot;jizpi logo&quot; uchun rasm qidiruv natijalari">
            <a:extLst>
              <a:ext uri="{FF2B5EF4-FFF2-40B4-BE49-F238E27FC236}">
                <a16:creationId xmlns:a16="http://schemas.microsoft.com/office/drawing/2014/main" id="{5BF85403-C724-CD18-B444-33440AC166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" name="Рисунок 11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E47FAF41-AAE0-E1AF-9B7D-8AF0C04D62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02 / 16</a:t>
            </a:r>
          </a:p>
        </p:txBody>
      </p:sp>
      <p:pic>
        <p:nvPicPr>
          <p:cNvPr id="4" name="Picture 3" descr="problem.jpg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10F">
                  <a:alpha val="0"/>
                </a:srgbClr>
              </a:gs>
              <a:gs pos="35000">
                <a:srgbClr val="0D110F">
                  <a:alpha val="30000"/>
                </a:srgbClr>
              </a:gs>
              <a:gs pos="55000">
                <a:srgbClr val="0D110F">
                  <a:alpha val="92000"/>
                </a:srgbClr>
              </a:gs>
              <a:gs pos="100000">
                <a:srgbClr val="0D110F">
                  <a:alpha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0936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55B5B"/>
                </a:solidFill>
                <a:latin typeface="Segoe UI Semibold"/>
              </a:rPr>
              <a:t>MUAMMO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7772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F2F5F2"/>
                </a:solidFill>
                <a:latin typeface="Segoe UI Semibold"/>
              </a:rPr>
              <a:t>Bog' xizmatini buyurtma qilish — bugun hamon tavakkal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E55B5B"/>
                </a:solidFill>
                <a:latin typeface="Segoe UI Emoji"/>
              </a:rP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85623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Ishonchli usta topish qiyin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14883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5AC"/>
                </a:solidFill>
                <a:latin typeface="Segoe UI"/>
              </a:rPr>
              <a:t>Tanish-bilish, Telegram guruhlar va e'lonlar orqali — reyting va kafolat yo'q.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743199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E55B5B"/>
                </a:solidFill>
                <a:latin typeface="Segoe UI Emoji"/>
              </a:rPr>
              <a:t>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72491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Narx noaniq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01751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5AC"/>
                </a:solidFill>
                <a:latin typeface="Segoe UI"/>
              </a:rPr>
              <a:t>Narx oldindan aytilmaydi, ish oxirida oshib ketadi; solishtirish imkoni yo'q.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611879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E55B5B"/>
                </a:solidFill>
                <a:latin typeface="Segoe UI Emoji"/>
              </a:rPr>
              <a:t>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359359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Vaqt kelishilmaydi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88619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5AC"/>
                </a:solidFill>
                <a:latin typeface="Segoe UI"/>
              </a:rPr>
              <a:t>Usta kechikadi yoki kelmaydi; firmaning bandligi mijozga ko'rinmaydi.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480559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E55B5B"/>
                </a:solidFill>
                <a:latin typeface="Segoe UI Emoji"/>
              </a:rPr>
              <a:t>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446227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To'lov himoyalanmagan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475487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5AC"/>
                </a:solidFill>
                <a:latin typeface="Segoe UI"/>
              </a:rPr>
              <a:t>Oldindan pul beriladi — ish sifatsiz bo'lsa, qaytarib olish deyarli imkonsiz.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5349239"/>
            <a:ext cx="512064" cy="512064"/>
          </a:xfrm>
          <a:prstGeom prst="roundRect">
            <a:avLst>
              <a:gd name="adj" fmla="val 28000"/>
            </a:avLst>
          </a:prstGeom>
          <a:solidFill>
            <a:srgbClr val="3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>
                <a:solidFill>
                  <a:srgbClr val="E55B5B"/>
                </a:solidFill>
                <a:latin typeface="Segoe UI Emoji"/>
              </a:rPr>
              <a:t>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330951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Firmalar ham qiynaladi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623559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5AC"/>
                </a:solidFill>
                <a:latin typeface="Segoe UI"/>
              </a:rPr>
              <a:t>Buyurtmalar daftar va telefonda; xodimlar bandligi, daromad hisobi yo'q.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BOZOR IMKONIYATI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Kimlar uchun?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5AC"/>
                </a:solidFill>
                <a:latin typeface="Segoe UI"/>
              </a:rPr>
              <a:t>Talab doimiy va mavsumiy: bahor–kuz davrida har hafta, qishda daraxt kesish va rejalashtirish.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2606040" cy="24231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Xususiy uy va hovlilar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Gazon, daraxt parvarishi, dorilash, o'g'itlash — muntazam xizmat.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57400"/>
            <a:ext cx="2606040" cy="24231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03320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71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Dacha va kottej shaharchalari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7033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Mavsumiy katta buyurtmalar, landshaft dizayn, sug'orish tizimi.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2606040" cy="24231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92240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71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Korxona va ofis hududlari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033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Yillik parvarish shartnomalari — barqaror, takroriy daromad.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057400"/>
            <a:ext cx="2606040" cy="24231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281160" y="22860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9718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Mahalla, maktab, bog'chalar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703320"/>
            <a:ext cx="2148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Obodonlashtirish va ko'kalamzorlashtirish loyihalari.</a:t>
            </a:r>
          </a:p>
        </p:txBody>
      </p:sp>
      <p:pic>
        <p:nvPicPr>
          <p:cNvPr id="31" name="Рисунок 30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B8FAA872-4629-7E61-9F6C-96DFAE9054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YECHIM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E-MAKON — buyurtmadan to'lovgacha bitta platforma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5AC"/>
                </a:solidFill>
                <a:latin typeface="Segoe UI"/>
              </a:rPr>
              <a:t>To'rt qism bitta backend va bitta ma'lumotlar bazasida ishlaydi — hamma bir xil holatni ko'radi.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F5F2"/>
                </a:solidFill>
                <a:latin typeface="Segoe UI Semibold"/>
              </a:rPr>
              <a:t>Mobil ilova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DA7F"/>
                </a:solidFill>
                <a:latin typeface="Segoe UI"/>
              </a:rPr>
              <a:t>Mijoz uchun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Xizmat va firma tanlash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62272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Qat'iy narx, bo'sh vaqt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9262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Rasm, to'lov, jonli holat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22976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Sharh va bonus ballar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10312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0332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🧑‍🌾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08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F5F2"/>
                </a:solidFill>
                <a:latin typeface="Segoe UI Semibold"/>
              </a:rPr>
              <a:t>Firma paneli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4930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DA7F"/>
                </a:solidFill>
                <a:latin typeface="Segoe UI"/>
              </a:rPr>
              <a:t>Hamkor firma uchun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93192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Buyurtmalarni qabul qilish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462272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Bandlik jadvali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99262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Xodimlar va ish bosqichlari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5522976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Moliya va PDF hisobotlar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10312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9224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08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F5F2"/>
                </a:solidFill>
                <a:latin typeface="Segoe UI Semibold"/>
              </a:rPr>
              <a:t>Superadmin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4930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DA7F"/>
                </a:solidFill>
                <a:latin typeface="Segoe UI"/>
              </a:rPr>
              <a:t>Platforma uchun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93192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Firma moderatsiyasi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62272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To'lovlar nazorati (escrow)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9262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Komissiya, obuna, jarima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522976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Xarita, bannerlar, ball tizimi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2103120"/>
            <a:ext cx="2606040" cy="402336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8116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1089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F5F2"/>
                </a:solidFill>
                <a:latin typeface="Segoe UI Semibold"/>
              </a:rPr>
              <a:t>Telegram bot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34930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8BDA7F"/>
                </a:solidFill>
                <a:latin typeface="Segoe UI"/>
              </a:rPr>
              <a:t>Qo'shimcha kanal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931920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Telegram orqali kirish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462272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Buyurtma berish va kuzatish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4992624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Murojaat (support) tizimi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81160" y="5522976"/>
            <a:ext cx="2240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00" b="0">
                <a:solidFill>
                  <a:srgbClr val="F2F5F2"/>
                </a:solidFill>
                <a:latin typeface="Segoe UI"/>
              </a:rPr>
              <a:t>Bildirishnomalar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MOBIL ILOVA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Mijoz 1 daqiqada buyurtma beradi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517904"/>
            <a:ext cx="2099717" cy="4325112"/>
          </a:xfrm>
          <a:prstGeom prst="roundRect">
            <a:avLst>
              <a:gd name="adj" fmla="val 9000"/>
            </a:avLst>
          </a:prstGeom>
          <a:solidFill>
            <a:srgbClr val="050706"/>
          </a:solidFill>
          <a:ln w="12700">
            <a:solidFill>
              <a:srgbClr val="3A4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m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00200"/>
            <a:ext cx="1935125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943600"/>
            <a:ext cx="248376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A9B5AC"/>
                </a:solidFill>
                <a:latin typeface="Segoe UI"/>
              </a:rPr>
              <a:t>Bosh sahifa: xizmatlar va hamkorlar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81629" y="1517904"/>
            <a:ext cx="2099717" cy="4325112"/>
          </a:xfrm>
          <a:prstGeom prst="roundRect">
            <a:avLst>
              <a:gd name="adj" fmla="val 9000"/>
            </a:avLst>
          </a:prstGeom>
          <a:solidFill>
            <a:srgbClr val="050706"/>
          </a:solidFill>
          <a:ln w="12700">
            <a:solidFill>
              <a:srgbClr val="3A4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m_serv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925" y="1600200"/>
            <a:ext cx="1935125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89605" y="5943600"/>
            <a:ext cx="248376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A9B5AC"/>
                </a:solidFill>
                <a:latin typeface="Segoe UI"/>
              </a:rPr>
              <a:t>Firmalar narxlari — qat'iy, solishtiriladi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76874" y="1517904"/>
            <a:ext cx="2099717" cy="4325112"/>
          </a:xfrm>
          <a:prstGeom prst="roundRect">
            <a:avLst>
              <a:gd name="adj" fmla="val 9000"/>
            </a:avLst>
          </a:prstGeom>
          <a:solidFill>
            <a:srgbClr val="050706"/>
          </a:solidFill>
          <a:ln w="12700">
            <a:solidFill>
              <a:srgbClr val="3A4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3" name="Picture 12" descr="m_sl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170" y="1600200"/>
            <a:ext cx="1935125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84850" y="5943600"/>
            <a:ext cx="248376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A9B5AC"/>
                </a:solidFill>
                <a:latin typeface="Segoe UI"/>
              </a:rPr>
              <a:t>Bo'sh vaqt yashil, band vaqt qizil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2119" y="1517904"/>
            <a:ext cx="2099717" cy="4325112"/>
          </a:xfrm>
          <a:prstGeom prst="roundRect">
            <a:avLst>
              <a:gd name="adj" fmla="val 9000"/>
            </a:avLst>
          </a:prstGeom>
          <a:solidFill>
            <a:srgbClr val="050706"/>
          </a:solidFill>
          <a:ln w="12700">
            <a:solidFill>
              <a:srgbClr val="3A47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m_ord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4415" y="1600200"/>
            <a:ext cx="1935125" cy="4160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80095" y="5943600"/>
            <a:ext cx="248376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A9B5AC"/>
                </a:solidFill>
                <a:latin typeface="Segoe UI"/>
              </a:rPr>
              <a:t>Buyurtma holati jonli kuzatiladi</a:t>
            </a:r>
          </a:p>
        </p:txBody>
      </p:sp>
      <p:pic>
        <p:nvPicPr>
          <p:cNvPr id="18" name="Рисунок 17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0C8E1AEC-C975-D5E2-4ECB-641F7FCFE4D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JARAYON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Buyurtma qanday ishlaydi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5AC"/>
                </a:solidFill>
                <a:latin typeface="Segoe UI"/>
              </a:rPr>
              <a:t>Pul mijozdan to'g'ridan-to'g'ri firmaga emas — avval E-MAKON hisobida ushlanadi (escrow).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1673352" cy="251460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868680" y="2514600"/>
            <a:ext cx="502920" cy="50292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110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08960"/>
            <a:ext cx="1307592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5F2"/>
                </a:solidFill>
                <a:latin typeface="Segoe UI Semibold"/>
              </a:rPr>
              <a:t>Xizmat tanlash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67328"/>
            <a:ext cx="1307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Katalogdan xizmat, rasm va maydon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324612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8BDA7F"/>
                </a:solidFill>
                <a:latin typeface="Segoe UI Semibol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7168" y="2194560"/>
            <a:ext cx="1673352" cy="251460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2715768" y="2514600"/>
            <a:ext cx="502920" cy="50292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110F"/>
                </a:solidFill>
                <a:latin typeface="Segoe UI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3108960"/>
            <a:ext cx="1307592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5F2"/>
                </a:solidFill>
                <a:latin typeface="Segoe UI Semibold"/>
              </a:rPr>
              <a:t>Firma va narx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3767328"/>
            <a:ext cx="1307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Bir nechta firmaning qat'iy narxi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2232" y="324612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8BDA7F"/>
                </a:solidFill>
                <a:latin typeface="Segoe UI Semibol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194560"/>
            <a:ext cx="1673352" cy="251460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62856" y="2514600"/>
            <a:ext cx="502920" cy="50292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110F"/>
                </a:solidFill>
                <a:latin typeface="Segoe UI Semibol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3108960"/>
            <a:ext cx="1307592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5F2"/>
                </a:solidFill>
                <a:latin typeface="Segoe UI Semibold"/>
              </a:rPr>
              <a:t>Bo'sh vaqt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767328"/>
            <a:ext cx="1307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Yashil soatni tanlaydi (1 soatdan)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24612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8BDA7F"/>
                </a:solidFill>
                <a:latin typeface="Segoe UI Semibold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2194560"/>
            <a:ext cx="1673352" cy="2514600"/>
          </a:xfrm>
          <a:prstGeom prst="roundRect">
            <a:avLst>
              <a:gd name="adj" fmla="val 6000"/>
            </a:avLst>
          </a:prstGeom>
          <a:solidFill>
            <a:srgbClr val="1F3A22"/>
          </a:solidFill>
          <a:ln w="12700">
            <a:solidFill>
              <a:srgbClr val="8BD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6409944" y="2514600"/>
            <a:ext cx="502920" cy="50292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110F"/>
                </a:solidFill>
                <a:latin typeface="Segoe UI Semibold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108960"/>
            <a:ext cx="1307592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5F2"/>
                </a:solidFill>
                <a:latin typeface="Segoe UI Semibold"/>
              </a:rPr>
              <a:t>Xavfsiz to'lov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767328"/>
            <a:ext cx="1307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Pul E-MAKON hisobida ushlanadi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324612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8BDA7F"/>
                </a:solidFill>
                <a:latin typeface="Segoe UI Semibold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2194560"/>
            <a:ext cx="1673352" cy="251460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8257032" y="2514600"/>
            <a:ext cx="502920" cy="50292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110F"/>
                </a:solidFill>
                <a:latin typeface="Segoe UI Semibol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2" y="3108960"/>
            <a:ext cx="1307592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5F2"/>
                </a:solidFill>
                <a:latin typeface="Segoe UI Semibold"/>
              </a:rPr>
              <a:t>Ish bajariladi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2" y="3767328"/>
            <a:ext cx="1307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Qabul qildi → yo'lda → ishlayapti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83496" y="3246120"/>
            <a:ext cx="2194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8BDA7F"/>
                </a:solidFill>
                <a:latin typeface="Segoe UI Semibold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2194560"/>
            <a:ext cx="1673352" cy="251460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104120" y="2514600"/>
            <a:ext cx="502920" cy="50292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D110F"/>
                </a:solidFill>
                <a:latin typeface="Segoe UI Semibold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3108960"/>
            <a:ext cx="1307592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2F5F2"/>
                </a:solidFill>
                <a:latin typeface="Segoe UI Semibold"/>
              </a:rPr>
              <a:t>Tasdiq va baho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767328"/>
            <a:ext cx="130759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Pul firmaga o'tadi, mijoz baho beradi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12064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BDA7F"/>
                </a:solidFill>
                <a:latin typeface="Segoe UI Semibold"/>
              </a:rPr>
              <a:t>Qat'iy narx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firma oldindan belgilaydi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512064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BDA7F"/>
                </a:solidFill>
                <a:latin typeface="Segoe UI Semibold"/>
              </a:rPr>
              <a:t>Escrow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to'lov ish tasdiqlanguncha ushlanadi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12064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BDA7F"/>
                </a:solidFill>
                <a:latin typeface="Segoe UI Semibold"/>
              </a:rPr>
              <a:t>Jonli holat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usta yo'lda, yetib keldi, ishlayapti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120640"/>
            <a:ext cx="2606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8BDA7F"/>
                </a:solidFill>
                <a:latin typeface="Segoe UI Semibold"/>
              </a:rPr>
              <a:t>Nizo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pul qaytariladi yoki muzlatiladi</a:t>
            </a:r>
          </a:p>
        </p:txBody>
      </p:sp>
      <p:pic>
        <p:nvPicPr>
          <p:cNvPr id="40" name="Рисунок 39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FFCEB153-8A90-BFCA-8395-E2961A76E1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FIRMA PANELI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Hamkor firma biznesini bitta oynadan boshqaradi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08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63624"/>
            <a:ext cx="6382512" cy="4272534"/>
          </a:xfrm>
          <a:prstGeom prst="roundRect">
            <a:avLst>
              <a:gd name="adj" fmla="val 3000"/>
            </a:avLst>
          </a:prstGeom>
          <a:solidFill>
            <a:srgbClr val="1C241F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682496"/>
            <a:ext cx="91440" cy="91440"/>
          </a:xfrm>
          <a:prstGeom prst="ellipse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05256" y="1682496"/>
            <a:ext cx="91440" cy="9144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" y="1682496"/>
            <a:ext cx="91440" cy="9144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fa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56232"/>
            <a:ext cx="6309360" cy="39433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32904" y="1563624"/>
            <a:ext cx="4370832" cy="3015234"/>
          </a:xfrm>
          <a:prstGeom prst="roundRect">
            <a:avLst>
              <a:gd name="adj" fmla="val 3000"/>
            </a:avLst>
          </a:prstGeom>
          <a:solidFill>
            <a:srgbClr val="1C241F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79208" y="1682496"/>
            <a:ext cx="91440" cy="91440"/>
          </a:xfrm>
          <a:prstGeom prst="ellipse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34656" y="1682496"/>
            <a:ext cx="91440" cy="9144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7690104" y="1682496"/>
            <a:ext cx="91440" cy="9144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fa_fin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56232"/>
            <a:ext cx="4297680" cy="2686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9480" y="489204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50" b="0">
                <a:solidFill>
                  <a:srgbClr val="F2F5F2"/>
                </a:solidFill>
                <a:latin typeface="Segoe UI"/>
              </a:rPr>
              <a:t>Buyurtmalar, ish bosqichlari, xodim biriktirish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50" b="0">
                <a:solidFill>
                  <a:srgbClr val="F2F5F2"/>
                </a:solidFill>
                <a:latin typeface="Segoe UI"/>
              </a:rPr>
              <a:t>Moliya: ushlangan / o'tkazilgan pul, platforma ulushi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50" b="0">
                <a:solidFill>
                  <a:srgbClr val="F2F5F2"/>
                </a:solidFill>
                <a:latin typeface="Segoe UI"/>
              </a:rPr>
              <a:t>Xodimlar, mijozlar, xarita, PDF hisobotlar</a:t>
            </a:r>
          </a:p>
        </p:txBody>
      </p:sp>
      <p:pic>
        <p:nvPicPr>
          <p:cNvPr id="17" name="Рисунок 16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D24A52D9-43C3-F655-CF9A-99BE8DDCBB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SUPERADMIN PANELI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Platforma ustidan to'liq nazorat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09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563624"/>
            <a:ext cx="6382512" cy="4272534"/>
          </a:xfrm>
          <a:prstGeom prst="roundRect">
            <a:avLst>
              <a:gd name="adj" fmla="val 3000"/>
            </a:avLst>
          </a:prstGeom>
          <a:solidFill>
            <a:srgbClr val="1C241F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749808" y="1682496"/>
            <a:ext cx="91440" cy="91440"/>
          </a:xfrm>
          <a:prstGeom prst="ellipse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905256" y="1682496"/>
            <a:ext cx="91440" cy="9144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060704" y="1682496"/>
            <a:ext cx="91440" cy="9144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sa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56232"/>
            <a:ext cx="6309360" cy="394335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232904" y="1563624"/>
            <a:ext cx="4370832" cy="3015234"/>
          </a:xfrm>
          <a:prstGeom prst="roundRect">
            <a:avLst>
              <a:gd name="adj" fmla="val 3000"/>
            </a:avLst>
          </a:prstGeom>
          <a:solidFill>
            <a:srgbClr val="1C241F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79208" y="1682496"/>
            <a:ext cx="91440" cy="91440"/>
          </a:xfrm>
          <a:prstGeom prst="ellipse">
            <a:avLst/>
          </a:prstGeom>
          <a:solidFill>
            <a:srgbClr val="E55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34656" y="1682496"/>
            <a:ext cx="91440" cy="91440"/>
          </a:xfrm>
          <a:prstGeom prst="ellipse">
            <a:avLst/>
          </a:prstGeom>
          <a:solidFill>
            <a:srgbClr val="F2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7690104" y="1682496"/>
            <a:ext cx="91440" cy="91440"/>
          </a:xfrm>
          <a:prstGeom prst="ellipse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sa_fir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856232"/>
            <a:ext cx="4297680" cy="2686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69480" y="4892040"/>
            <a:ext cx="42976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50" b="0">
                <a:solidFill>
                  <a:srgbClr val="F2F5F2"/>
                </a:solidFill>
                <a:latin typeface="Segoe UI"/>
              </a:rPr>
              <a:t>Firmalar: moderatsiya, reyting, obuna, blok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50" b="0">
                <a:solidFill>
                  <a:srgbClr val="F2F5F2"/>
                </a:solidFill>
                <a:latin typeface="Segoe UI"/>
              </a:rPr>
              <a:t>Escrow: to'lovni chiqarish, qaytarish, jarima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✓  </a:t>
            </a:r>
            <a:r>
              <a:rPr sz="1250" b="0">
                <a:solidFill>
                  <a:srgbClr val="F2F5F2"/>
                </a:solidFill>
                <a:latin typeface="Segoe UI"/>
              </a:rPr>
              <a:t>Aylanma va komissiya hisobotlari, bannerlar</a:t>
            </a:r>
          </a:p>
        </p:txBody>
      </p:sp>
      <p:pic>
        <p:nvPicPr>
          <p:cNvPr id="17" name="Рисунок 16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EAC40FFC-A2E7-31E4-610D-02009E83D1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ISHONCH VA SIFAT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Nega mijoz va firma bizga ishonadi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10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Escrow to'lov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To'lov ish tasdiqlanguncha platforma hisobida. Holatlar: kutilmoqda, ushlangan, o'tkazilgan, qaytarilgan, nizoli, muzlatilgan. Har bir amal ikki tomonlama buxgalteriyada.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916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1965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Reyting va sharhlar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974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Faqat ishi yakunlangan mijoz baho qoldiradi — soxta sharh yo'q.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6916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057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Jarima va taqiq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974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Qoidabuzar firmaga 100 000 so'm jarima va 7 kunlik savdo taqig'i.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" y="4251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343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Bonus ballar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Har 10 000 so'm uchun 1 ball, 50 balldan almashtiriladi, 12 oy amal qiladi.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9776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0" y="4251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343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SMS orqali kirish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834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6 xonali kod, 5 daqiqa amal qiladi, 5 urinish — parolsiz va xavfsiz.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9776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229600" y="425196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343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Shaffof narx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983480"/>
            <a:ext cx="29718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Narxni firma oldindan belgilaydi, superadmin moderatsiya qiladi.</a:t>
            </a:r>
          </a:p>
        </p:txBody>
      </p:sp>
      <p:pic>
        <p:nvPicPr>
          <p:cNvPr id="30" name="Рисунок 29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4B012EA5-D993-E046-1055-678D25491E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BIZNES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Daromad qanday keladi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A9B5AC"/>
                </a:solidFill>
                <a:latin typeface="Segoe UI"/>
              </a:rPr>
              <a:t>Stavkalar superadmin panelida sozlanadi — bozor sinovidan keyin optimallashtiriladi.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474720" cy="2606040"/>
          </a:xfrm>
          <a:prstGeom prst="roundRect">
            <a:avLst>
              <a:gd name="adj" fmla="val 6000"/>
            </a:avLst>
          </a:prstGeom>
          <a:solidFill>
            <a:srgbClr val="1F3A22"/>
          </a:solidFill>
          <a:ln w="12700">
            <a:solidFill>
              <a:srgbClr val="8BD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0D110F"/>
                </a:solidFill>
                <a:latin typeface="Segoe UI Emoji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Buyurtma komissiyasi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8BDA7F"/>
                </a:solidFill>
                <a:latin typeface="Segoe UI Semibold"/>
              </a:rPr>
              <a:t>0.1% – 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Har bir yakunlangan buyurtmadan platforma ulushi. Firma qancha ko'p ishlasa, stavka shuncha past (sodiqlik).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474720" cy="260604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Firma obunasi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8BDA7F"/>
                </a:solidFill>
                <a:latin typeface="Segoe UI Semibold"/>
              </a:rPr>
              <a:t>$9 / oy · $90 / yil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0332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Panel, CRM va platformadagi joy uchun. Yangi firmaga 30 kun bepul.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2103120"/>
            <a:ext cx="3474720" cy="2606040"/>
          </a:xfrm>
          <a:prstGeom prst="roundRect">
            <a:avLst>
              <a:gd name="adj" fmla="val 6000"/>
            </a:avLst>
          </a:prstGeom>
          <a:solidFill>
            <a:srgbClr val="151C17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237744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>
                <a:solidFill>
                  <a:srgbClr val="8BDA7F"/>
                </a:solidFill>
                <a:latin typeface="Segoe UI Emoji"/>
              </a:rPr>
              <a:t>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468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2F5F2"/>
                </a:solidFill>
                <a:latin typeface="Segoe UI Semibold"/>
              </a:rPr>
              <a:t>Qo'shimcha daromad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8BDA7F"/>
                </a:solidFill>
                <a:latin typeface="Segoe UI Semibold"/>
              </a:rPr>
              <a:t>Reja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0332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A9B5AC"/>
                </a:solidFill>
                <a:latin typeface="Segoe UI"/>
              </a:rPr>
              <a:t>Reklama bannerlari, ro'yxatda yuqori joy, yillik parvarish shartnomalari (korxona va mahallalar uchun).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60"/>
            <a:ext cx="10927080" cy="1234440"/>
          </a:xfrm>
          <a:prstGeom prst="roundRect">
            <a:avLst>
              <a:gd name="adj" fmla="val 6000"/>
            </a:avLst>
          </a:prstGeom>
          <a:solidFill>
            <a:srgbClr val="121A14"/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07492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8BDA7F"/>
                </a:solidFill>
                <a:latin typeface="Segoe UI Semibold"/>
              </a:rPr>
              <a:t>Sodiqlik shkalasi (komissiya): </a:t>
            </a:r>
            <a:r>
              <a:rPr sz="1300" b="0">
                <a:solidFill>
                  <a:srgbClr val="F2F5F2"/>
                </a:solidFill>
                <a:latin typeface="Segoe UI"/>
              </a:rPr>
              <a:t>5 tagacha buyurtma — 0.30%  ·  5+ — 0.25%  ·  20+ — 0.20%  ·  50+ — 0.15%  ·  100+ — 0.10%</a:t>
            </a:r>
          </a:p>
          <a:p>
            <a:pPr algn="l">
              <a:lnSpc>
                <a:spcPct val="150000"/>
              </a:lnSpc>
            </a:pPr>
            <a:r>
              <a:rPr sz="1300" b="1">
                <a:solidFill>
                  <a:srgbClr val="8BDA7F"/>
                </a:solidFill>
                <a:latin typeface="Segoe UI Semibold"/>
              </a:rPr>
              <a:t>Misol: </a:t>
            </a:r>
            <a:r>
              <a:rPr sz="1300" b="0">
                <a:solidFill>
                  <a:srgbClr val="A9B5AC"/>
                </a:solidFill>
                <a:latin typeface="Segoe UI"/>
              </a:rPr>
              <a:t>[ ___ ] firma × oyiga [ ___ ] buyurtma × o'rtacha chek [ ___ ] so'm = oylik aylanma [ ___ ] so'm</a:t>
            </a:r>
          </a:p>
        </p:txBody>
      </p:sp>
      <p:pic>
        <p:nvPicPr>
          <p:cNvPr id="24" name="Рисунок 23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F04BFCC0-F3C4-57EF-4284-AA5D90E44C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15 / 16</a:t>
            </a:r>
          </a:p>
        </p:txBody>
      </p:sp>
      <p:pic>
        <p:nvPicPr>
          <p:cNvPr id="4" name="Picture 3" descr="future.jpg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10F">
                  <a:alpha val="97000"/>
                </a:srgbClr>
              </a:gs>
              <a:gs pos="55000">
                <a:srgbClr val="0D110F">
                  <a:alpha val="88000"/>
                </a:srgbClr>
              </a:gs>
              <a:gs pos="100000">
                <a:srgbClr val="0D110F">
                  <a:alpha val="45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BDA7F"/>
                </a:solidFill>
                <a:latin typeface="Segoe UI Semibold"/>
              </a:rPr>
              <a:t>KELAJAKDAGI USTUVOR VAZIFALAR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2F5F2"/>
                </a:solidFill>
                <a:latin typeface="Segoe UI Semibold"/>
              </a:rPr>
              <a:t>Yo'l xaritasi: 12 oy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2606040" cy="54864"/>
          </a:xfrm>
          <a:prstGeom prst="rect">
            <a:avLst/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764792"/>
            <a:ext cx="274320" cy="274320"/>
          </a:xfrm>
          <a:prstGeom prst="ellipse">
            <a:avLst/>
          </a:prstGeom>
          <a:solidFill>
            <a:srgbClr val="8BDA7F"/>
          </a:solidFill>
          <a:ln w="12700">
            <a:solidFill>
              <a:srgbClr val="8BD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51C17">
              <a:alpha val="88000"/>
            </a:srgbClr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5146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8BDA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0D110F"/>
                </a:solidFill>
                <a:latin typeface="Segoe UI Semibold"/>
              </a:rPr>
              <a:t>0–1 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718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2F5F2"/>
                </a:solidFill>
                <a:latin typeface="Segoe UI Semibold"/>
              </a:rPr>
              <a:t>Ishga tushirish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SMS provayder (Eskiz / Playmobile)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3367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Click va Payme to'liq integratsiya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46904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Push-bildirishnomalar (FCM)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0712" y="1874519"/>
            <a:ext cx="2606040" cy="54864"/>
          </a:xfrm>
          <a:prstGeom prst="rect">
            <a:avLst/>
          </a:prstGeom>
          <a:solidFill>
            <a:srgbClr val="26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10712" y="1764792"/>
            <a:ext cx="274320" cy="274320"/>
          </a:xfrm>
          <a:prstGeom prst="ellipse">
            <a:avLst/>
          </a:prstGeom>
          <a:solidFill>
            <a:srgbClr val="151C17"/>
          </a:solidFill>
          <a:ln w="12700">
            <a:solidFill>
              <a:srgbClr val="8BD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10712" y="228600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51C17">
              <a:alpha val="88000"/>
            </a:srgbClr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39312" y="25146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8BDA7F"/>
                </a:solidFill>
                <a:latin typeface="Segoe UI Semibold"/>
              </a:rPr>
              <a:t>1–3 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9718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2F5F2"/>
                </a:solidFill>
                <a:latin typeface="Segoe UI Semibold"/>
              </a:rPr>
              <a:t>Do'konlarga chiqish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52044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Google Play va App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423367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Sharh, bonus, sevimlilar serverda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4946904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Parvarish shartnomasi ekrani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81344" y="1874519"/>
            <a:ext cx="2606040" cy="54864"/>
          </a:xfrm>
          <a:prstGeom prst="rect">
            <a:avLst/>
          </a:prstGeom>
          <a:solidFill>
            <a:srgbClr val="26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6181344" y="1764792"/>
            <a:ext cx="274320" cy="274320"/>
          </a:xfrm>
          <a:prstGeom prst="ellipse">
            <a:avLst/>
          </a:prstGeom>
          <a:solidFill>
            <a:srgbClr val="151C17"/>
          </a:solidFill>
          <a:ln w="12700">
            <a:solidFill>
              <a:srgbClr val="8BD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181344" y="228600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51C17">
              <a:alpha val="88000"/>
            </a:srgbClr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09944" y="25146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8BDA7F"/>
                </a:solidFill>
                <a:latin typeface="Segoe UI Semibold"/>
              </a:rPr>
              <a:t>3–6 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29718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2F5F2"/>
                </a:solidFill>
                <a:latin typeface="Segoe UI Semibold"/>
              </a:rPr>
              <a:t>O'sish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3520440"/>
            <a:ext cx="2194560" cy="4065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dirty="0">
                <a:solidFill>
                  <a:srgbClr val="8BDA7F"/>
                </a:solidFill>
                <a:latin typeface="Segoe UI Semibold"/>
              </a:rPr>
              <a:t>›  </a:t>
            </a:r>
            <a:r>
              <a:rPr lang="en-US" sz="1250" b="1" dirty="0" err="1">
                <a:solidFill>
                  <a:srgbClr val="F2F5F2"/>
                </a:solidFill>
                <a:latin typeface="Segoe UI"/>
              </a:rPr>
              <a:t>O’zbekiston</a:t>
            </a:r>
            <a:r>
              <a:rPr lang="en-US" sz="1250" b="1" dirty="0">
                <a:solidFill>
                  <a:srgbClr val="F2F5F2"/>
                </a:solidFill>
                <a:latin typeface="Segoe UI"/>
              </a:rPr>
              <a:t> </a:t>
            </a:r>
            <a:r>
              <a:rPr lang="en-US" sz="1250" b="1" dirty="0" err="1">
                <a:solidFill>
                  <a:srgbClr val="F2F5F2"/>
                </a:solidFill>
                <a:latin typeface="Segoe UI"/>
              </a:rPr>
              <a:t>bo’ylab</a:t>
            </a:r>
            <a:r>
              <a:rPr sz="1250" b="0" dirty="0">
                <a:solidFill>
                  <a:srgbClr val="F2F5F2"/>
                </a:solidFill>
                <a:latin typeface="Segoe UI"/>
              </a:rPr>
              <a:t> [ __ ]+ </a:t>
            </a:r>
            <a:r>
              <a:rPr sz="1250" b="0" dirty="0" err="1">
                <a:solidFill>
                  <a:srgbClr val="F2F5F2"/>
                </a:solidFill>
                <a:latin typeface="Segoe UI"/>
              </a:rPr>
              <a:t>hamkor</a:t>
            </a:r>
            <a:r>
              <a:rPr sz="1250" b="0" dirty="0">
                <a:solidFill>
                  <a:srgbClr val="F2F5F2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F2F5F2"/>
                </a:solidFill>
                <a:latin typeface="Segoe UI"/>
              </a:rPr>
              <a:t>firma</a:t>
            </a:r>
            <a:endParaRPr sz="1250" b="0" dirty="0">
              <a:solidFill>
                <a:srgbClr val="F2F5F2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9944" y="423367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Obuna to'lovini avtomatlashtirish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946904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Marketing va hamkorlik dasturi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1976" y="1874519"/>
            <a:ext cx="2606040" cy="54864"/>
          </a:xfrm>
          <a:prstGeom prst="rect">
            <a:avLst/>
          </a:prstGeom>
          <a:solidFill>
            <a:srgbClr val="26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8951976" y="1764792"/>
            <a:ext cx="274320" cy="274320"/>
          </a:xfrm>
          <a:prstGeom prst="ellipse">
            <a:avLst/>
          </a:prstGeom>
          <a:solidFill>
            <a:srgbClr val="151C17"/>
          </a:solidFill>
          <a:ln w="12700">
            <a:solidFill>
              <a:srgbClr val="8BDA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951976" y="2286000"/>
            <a:ext cx="2606040" cy="3566160"/>
          </a:xfrm>
          <a:prstGeom prst="roundRect">
            <a:avLst>
              <a:gd name="adj" fmla="val 6000"/>
            </a:avLst>
          </a:prstGeom>
          <a:solidFill>
            <a:srgbClr val="151C17">
              <a:alpha val="88000"/>
            </a:srgbClr>
          </a:solidFill>
          <a:ln w="12700">
            <a:solidFill>
              <a:srgbClr val="2635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80576" y="25146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F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8BDA7F"/>
                </a:solidFill>
                <a:latin typeface="Segoe UI Semibold"/>
              </a:rPr>
              <a:t>6–12 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297180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2F5F2"/>
                </a:solidFill>
                <a:latin typeface="Segoe UI Semibold"/>
              </a:rPr>
              <a:t>Kengayish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520440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Viloyat markazlariga chiqish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0576" y="4233672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B2B: korxona va mahalla shartnomalari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0576" y="4946904"/>
            <a:ext cx="2194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8BDA7F"/>
                </a:solidFill>
                <a:latin typeface="Segoe UI Semibold"/>
              </a:rPr>
              <a:t>›  </a:t>
            </a:r>
            <a:r>
              <a:rPr sz="1250" b="0">
                <a:solidFill>
                  <a:srgbClr val="F2F5F2"/>
                </a:solidFill>
                <a:latin typeface="Segoe UI"/>
              </a:rPr>
              <a:t>AI: rasm va maydon bo'yicha narx bahosi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465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BDA7F"/>
                </a:solidFill>
                <a:latin typeface="Segoe UI Semibold"/>
              </a:rPr>
              <a:t>E-MAKON</a:t>
            </a:r>
            <a:r>
              <a:rPr sz="1000" b="0">
                <a:solidFill>
                  <a:srgbClr val="A9B5AC"/>
                </a:solidFill>
                <a:latin typeface="Segoe UI"/>
              </a:rPr>
              <a:t>  ·  Investorlar uchun taqdimot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46520"/>
            <a:ext cx="94183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A9B5AC"/>
                </a:solidFill>
                <a:latin typeface="Segoe UI"/>
              </a:rPr>
              <a:t>15 / 16</a:t>
            </a:r>
          </a:p>
        </p:txBody>
      </p:sp>
      <p:pic>
        <p:nvPicPr>
          <p:cNvPr id="42" name="Рисунок 41" descr="Изображение выглядит как эмблема, символ, логотип, Торговая марка">
            <a:extLst>
              <a:ext uri="{FF2B5EF4-FFF2-40B4-BE49-F238E27FC236}">
                <a16:creationId xmlns:a16="http://schemas.microsoft.com/office/drawing/2014/main" id="{B7C2BCE1-0843-C5B0-C0CE-247754A324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939" r="15510"/>
          <a:stretch/>
        </p:blipFill>
        <p:spPr>
          <a:xfrm>
            <a:off x="10472927" y="461833"/>
            <a:ext cx="987553" cy="1001207"/>
          </a:xfrm>
          <a:prstGeom prst="ellipse">
            <a:avLst/>
          </a:prstGeom>
          <a:ln w="6350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1251</Words>
  <Application>Microsoft Office PowerPoint</Application>
  <PresentationFormat>Широкоэкранный</PresentationFormat>
  <Paragraphs>212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Segoe UI</vt:lpstr>
      <vt:lpstr>Segoe UI Emoji</vt:lpstr>
      <vt:lpstr>Segoe UI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 3</cp:lastModifiedBy>
  <cp:revision>2</cp:revision>
  <dcterms:created xsi:type="dcterms:W3CDTF">2013-01-27T09:14:16Z</dcterms:created>
  <dcterms:modified xsi:type="dcterms:W3CDTF">2026-10-08T14:45:13Z</dcterms:modified>
  <cp:category/>
</cp:coreProperties>
</file>